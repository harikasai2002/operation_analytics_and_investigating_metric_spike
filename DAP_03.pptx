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4" r:id="rId3"/>
    <p:sldId id="258" r:id="rId4"/>
    <p:sldId id="259" r:id="rId5"/>
    <p:sldId id="266" r:id="rId6"/>
    <p:sldId id="267" r:id="rId7"/>
    <p:sldId id="260" r:id="rId8"/>
    <p:sldId id="261" r:id="rId9"/>
    <p:sldId id="262" r:id="rId10"/>
    <p:sldId id="268" r:id="rId11"/>
    <p:sldId id="265"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F4BC39-2840-4C6E-81C5-8902F923518E}" type="datetimeFigureOut">
              <a:rPr lang="en-US" smtClean="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1924442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F4BC39-2840-4C6E-81C5-8902F923518E}" type="datetimeFigureOut">
              <a:rPr lang="en-US" smtClean="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280468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EF4BC39-2840-4C6E-81C5-8902F923518E}" type="datetimeFigureOut">
              <a:rPr lang="en-US" smtClean="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3478833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F4BC39-2840-4C6E-81C5-8902F923518E}" type="datetimeFigureOut">
              <a:rPr lang="en-US" smtClean="0"/>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1192753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F4BC39-2840-4C6E-81C5-8902F923518E}" type="datetimeFigureOut">
              <a:rPr lang="en-US" smtClean="0"/>
              <a:t>10/10/2023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3537462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F4BC39-2840-4C6E-81C5-8902F923518E}" type="datetimeFigureOut">
              <a:rPr lang="en-US" smtClean="0"/>
              <a:t>10/10/2023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331799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4BC39-2840-4C6E-81C5-8902F923518E}" type="datetimeFigureOut">
              <a:rPr lang="en-US" smtClean="0"/>
              <a:t>10/10/2023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1989403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EF4BC39-2840-4C6E-81C5-8902F923518E}" type="datetimeFigureOut">
              <a:rPr lang="en-US" smtClean="0"/>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3626046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EF4BC39-2840-4C6E-81C5-8902F923518E}" type="datetimeFigureOut">
              <a:rPr lang="en-US" smtClean="0"/>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3487391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F4BC39-2840-4C6E-81C5-8902F923518E}" type="datetimeFigureOut">
              <a:rPr lang="en-US" smtClean="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1126350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F4BC39-2840-4C6E-81C5-8902F923518E}" type="datetimeFigureOut">
              <a:rPr lang="en-US" smtClean="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393CB0-689A-452F-938C-2B0C51DFEE7C}" type="slidenum">
              <a:rPr lang="en-US" smtClean="0"/>
              <a:t>‹#›</a:t>
            </a:fld>
            <a:endParaRPr lang="en-US"/>
          </a:p>
        </p:txBody>
      </p:sp>
    </p:spTree>
    <p:extLst>
      <p:ext uri="{BB962C8B-B14F-4D97-AF65-F5344CB8AC3E}">
        <p14:creationId xmlns:p14="http://schemas.microsoft.com/office/powerpoint/2010/main" val="231443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F4BC39-2840-4C6E-81C5-8902F923518E}" type="datetimeFigureOut">
              <a:rPr lang="en-US" smtClean="0"/>
              <a:t>10/10/2023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393CB0-689A-452F-938C-2B0C51DFEE7C}" type="slidenum">
              <a:rPr lang="en-US" smtClean="0"/>
              <a:t>‹#›</a:t>
            </a:fld>
            <a:endParaRPr lang="en-US"/>
          </a:p>
        </p:txBody>
      </p:sp>
    </p:spTree>
    <p:extLst>
      <p:ext uri="{BB962C8B-B14F-4D97-AF65-F5344CB8AC3E}">
        <p14:creationId xmlns:p14="http://schemas.microsoft.com/office/powerpoint/2010/main" val="2039940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5909" y="0"/>
            <a:ext cx="8631198" cy="830997"/>
          </a:xfrm>
          <a:prstGeom prst="rect">
            <a:avLst/>
          </a:prstGeom>
          <a:noFill/>
        </p:spPr>
        <p:txBody>
          <a:bodyPr wrap="square" rtlCol="0">
            <a:spAutoFit/>
          </a:bodyPr>
          <a:lstStyle/>
          <a:p>
            <a:r>
              <a:rPr lang="en-US" sz="2400" b="1" dirty="0" smtClean="0"/>
              <a:t>OPERATION ANALYTICS AND INVESTIGATING METRIC SPIKE</a:t>
            </a:r>
          </a:p>
          <a:p>
            <a:endParaRPr lang="en-US" sz="2400" b="1" dirty="0"/>
          </a:p>
        </p:txBody>
      </p:sp>
      <p:sp>
        <p:nvSpPr>
          <p:cNvPr id="3" name="TextBox 2"/>
          <p:cNvSpPr txBox="1"/>
          <p:nvPr/>
        </p:nvSpPr>
        <p:spPr>
          <a:xfrm>
            <a:off x="211016" y="515795"/>
            <a:ext cx="11980984" cy="5909310"/>
          </a:xfrm>
          <a:prstGeom prst="rect">
            <a:avLst/>
          </a:prstGeom>
          <a:noFill/>
        </p:spPr>
        <p:txBody>
          <a:bodyPr wrap="square" rtlCol="0">
            <a:spAutoFit/>
          </a:bodyPr>
          <a:lstStyle/>
          <a:p>
            <a:pPr marL="457200" indent="-457200">
              <a:buFont typeface="+mj-lt"/>
              <a:buAutoNum type="arabicPeriod"/>
            </a:pPr>
            <a:r>
              <a:rPr lang="en-US" b="1" dirty="0" smtClean="0"/>
              <a:t>PROJECT DESCRIPTION :</a:t>
            </a:r>
          </a:p>
          <a:p>
            <a:r>
              <a:rPr lang="en-US" dirty="0"/>
              <a:t>Consisting of two case studies, this project involves </a:t>
            </a:r>
            <a:r>
              <a:rPr lang="en-US" b="1" dirty="0"/>
              <a:t>Job Data Analysis </a:t>
            </a:r>
            <a:r>
              <a:rPr lang="en-US" dirty="0"/>
              <a:t>and </a:t>
            </a:r>
            <a:r>
              <a:rPr lang="en-US" b="1" dirty="0"/>
              <a:t>Investigating Metric Spike</a:t>
            </a:r>
            <a:r>
              <a:rPr lang="en-US" dirty="0"/>
              <a:t>. The Job Data Analysis examines job-related data, including reviews, throughput, language distribution, and duplicate data detection. In the Investigating Metric Spike case, the focus is on user engagement, growth, retention, and email engagement analysis. SQL queries will be employed for data analysis in both cases</a:t>
            </a:r>
            <a:r>
              <a:rPr lang="en-US" dirty="0" smtClean="0"/>
              <a:t>.</a:t>
            </a:r>
          </a:p>
          <a:p>
            <a:endParaRPr lang="en-US" b="1" dirty="0"/>
          </a:p>
          <a:p>
            <a:pPr marL="457200" indent="-457200">
              <a:buFont typeface="+mj-lt"/>
              <a:buAutoNum type="arabicPeriod" startAt="2"/>
            </a:pPr>
            <a:r>
              <a:rPr lang="en-US" b="1" dirty="0" smtClean="0"/>
              <a:t>APPROACH</a:t>
            </a:r>
            <a:r>
              <a:rPr lang="en-US" b="1" dirty="0" smtClean="0"/>
              <a:t>: (Case Study – 1 : Job Data Analysis)</a:t>
            </a:r>
            <a:endParaRPr lang="en-US" b="1" dirty="0"/>
          </a:p>
          <a:p>
            <a:pPr marL="342900" indent="-342900">
              <a:buFont typeface="Arial" panose="020B0604020202020204" pitchFamily="34" charset="0"/>
              <a:buChar char="•"/>
            </a:pPr>
            <a:r>
              <a:rPr lang="en-US" dirty="0" smtClean="0"/>
              <a:t>Firstly, I have created a database named </a:t>
            </a:r>
            <a:r>
              <a:rPr lang="en-US" dirty="0" smtClean="0"/>
              <a:t>project3</a:t>
            </a:r>
            <a:r>
              <a:rPr lang="en-US" dirty="0" smtClean="0"/>
              <a:t> </a:t>
            </a:r>
            <a:r>
              <a:rPr lang="en-US" dirty="0" smtClean="0"/>
              <a:t>in MySQL Workbench. Then created </a:t>
            </a:r>
            <a:r>
              <a:rPr lang="en-US" dirty="0" smtClean="0"/>
              <a:t>table </a:t>
            </a:r>
            <a:r>
              <a:rPr lang="en-US" dirty="0" smtClean="0"/>
              <a:t>named </a:t>
            </a:r>
            <a:r>
              <a:rPr lang="en-US" b="1" dirty="0" err="1" smtClean="0"/>
              <a:t>job_data</a:t>
            </a:r>
            <a:r>
              <a:rPr lang="en-US" dirty="0" smtClean="0"/>
              <a:t> for </a:t>
            </a:r>
          </a:p>
          <a:p>
            <a:r>
              <a:rPr lang="en-US" dirty="0"/>
              <a:t> </a:t>
            </a:r>
            <a:r>
              <a:rPr lang="en-US" dirty="0" smtClean="0"/>
              <a:t>     </a:t>
            </a:r>
            <a:r>
              <a:rPr lang="en-US" dirty="0" smtClean="0"/>
              <a:t>Case Study - 1 with </a:t>
            </a:r>
            <a:r>
              <a:rPr lang="en-US" dirty="0" smtClean="0"/>
              <a:t>required columns and inserted the values respectively</a:t>
            </a:r>
            <a:r>
              <a:rPr lang="en-US" dirty="0" smtClean="0"/>
              <a:t>.</a:t>
            </a: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smtClean="0"/>
          </a:p>
          <a:p>
            <a:pPr marL="342900" indent="-342900">
              <a:buFont typeface="Arial" panose="020B0604020202020204" pitchFamily="34" charset="0"/>
              <a:buChar char="•"/>
            </a:pPr>
            <a:r>
              <a:rPr lang="en-US" dirty="0" smtClean="0"/>
              <a:t>After the creation of tables I executed required SQL queries with respect to each task as follows:</a:t>
            </a:r>
          </a:p>
        </p:txBody>
      </p:sp>
      <p:pic>
        <p:nvPicPr>
          <p:cNvPr id="6" name="Picture 5"/>
          <p:cNvPicPr>
            <a:picLocks noChangeAspect="1"/>
          </p:cNvPicPr>
          <p:nvPr/>
        </p:nvPicPr>
        <p:blipFill>
          <a:blip r:embed="rId2"/>
          <a:stretch>
            <a:fillRect/>
          </a:stretch>
        </p:blipFill>
        <p:spPr>
          <a:xfrm>
            <a:off x="706329" y="3303086"/>
            <a:ext cx="2210108" cy="2629267"/>
          </a:xfrm>
          <a:prstGeom prst="rect">
            <a:avLst/>
          </a:prstGeom>
        </p:spPr>
      </p:pic>
      <p:pic>
        <p:nvPicPr>
          <p:cNvPr id="7" name="Picture 6"/>
          <p:cNvPicPr>
            <a:picLocks noChangeAspect="1"/>
          </p:cNvPicPr>
          <p:nvPr/>
        </p:nvPicPr>
        <p:blipFill>
          <a:blip r:embed="rId3"/>
          <a:stretch>
            <a:fillRect/>
          </a:stretch>
        </p:blipFill>
        <p:spPr>
          <a:xfrm>
            <a:off x="3868145" y="3303086"/>
            <a:ext cx="5239481" cy="2248214"/>
          </a:xfrm>
          <a:prstGeom prst="rect">
            <a:avLst/>
          </a:prstGeom>
        </p:spPr>
      </p:pic>
    </p:spTree>
    <p:extLst>
      <p:ext uri="{BB962C8B-B14F-4D97-AF65-F5344CB8AC3E}">
        <p14:creationId xmlns:p14="http://schemas.microsoft.com/office/powerpoint/2010/main" val="2205369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7143" y="0"/>
            <a:ext cx="3612715" cy="923330"/>
          </a:xfrm>
          <a:prstGeom prst="rect">
            <a:avLst/>
          </a:prstGeom>
          <a:noFill/>
        </p:spPr>
        <p:txBody>
          <a:bodyPr wrap="square" rtlCol="0">
            <a:spAutoFit/>
          </a:bodyPr>
          <a:lstStyle/>
          <a:p>
            <a:pPr marL="457200" indent="-457200">
              <a:buFont typeface="+mj-lt"/>
              <a:buAutoNum type="alphaUcPeriod"/>
            </a:pPr>
            <a:r>
              <a:rPr lang="en-US" b="1" dirty="0" smtClean="0"/>
              <a:t>JOBS REVIEWED OVER TIME</a:t>
            </a:r>
            <a:r>
              <a:rPr lang="en-US" b="1" dirty="0" smtClean="0"/>
              <a:t>: </a:t>
            </a:r>
            <a:endParaRPr lang="en-US" b="1" dirty="0" smtClean="0"/>
          </a:p>
          <a:p>
            <a:endParaRPr lang="en-US" dirty="0"/>
          </a:p>
          <a:p>
            <a:pPr marL="514350" indent="-514350">
              <a:buFont typeface="+mj-lt"/>
              <a:buAutoNum type="romanUcPeriod"/>
            </a:pPr>
            <a:endParaRPr lang="en-US" dirty="0"/>
          </a:p>
        </p:txBody>
      </p:sp>
      <p:sp>
        <p:nvSpPr>
          <p:cNvPr id="4" name="TextBox 3"/>
          <p:cNvSpPr txBox="1"/>
          <p:nvPr/>
        </p:nvSpPr>
        <p:spPr>
          <a:xfrm>
            <a:off x="531980" y="1193185"/>
            <a:ext cx="10979008" cy="1077218"/>
          </a:xfrm>
          <a:prstGeom prst="rect">
            <a:avLst/>
          </a:prstGeom>
          <a:noFill/>
        </p:spPr>
        <p:txBody>
          <a:bodyPr wrap="square" rtlCol="0">
            <a:spAutoFit/>
          </a:bodyPr>
          <a:lstStyle/>
          <a:p>
            <a:r>
              <a:rPr lang="en-US" sz="1600" dirty="0" smtClean="0"/>
              <a:t>This SQL query calculates the average number of distinct job reviews per hour in the month of November 2020. It counts the unique job IDs within the specified date range and divides this count by the total number of hours in November 2020 (30 days * 24 hours/day). The result, '</a:t>
            </a:r>
            <a:r>
              <a:rPr lang="en-US" sz="1600" dirty="0" err="1" smtClean="0"/>
              <a:t>jobs_reviewed</a:t>
            </a:r>
            <a:r>
              <a:rPr lang="en-US" sz="1600" dirty="0" smtClean="0"/>
              <a:t>,' represents the average hourly job reviews during that month, providing insights into the review activity pattern.</a:t>
            </a:r>
            <a:endParaRPr lang="en-US" sz="1600" dirty="0"/>
          </a:p>
        </p:txBody>
      </p:sp>
      <p:pic>
        <p:nvPicPr>
          <p:cNvPr id="5" name="Picture 4"/>
          <p:cNvPicPr>
            <a:picLocks noChangeAspect="1"/>
          </p:cNvPicPr>
          <p:nvPr/>
        </p:nvPicPr>
        <p:blipFill>
          <a:blip r:embed="rId2"/>
          <a:stretch>
            <a:fillRect/>
          </a:stretch>
        </p:blipFill>
        <p:spPr>
          <a:xfrm>
            <a:off x="649983" y="461664"/>
            <a:ext cx="5371501" cy="736318"/>
          </a:xfrm>
          <a:prstGeom prst="rect">
            <a:avLst/>
          </a:prstGeom>
        </p:spPr>
      </p:pic>
      <p:sp>
        <p:nvSpPr>
          <p:cNvPr id="6" name="TextBox 5"/>
          <p:cNvSpPr txBox="1"/>
          <p:nvPr/>
        </p:nvSpPr>
        <p:spPr>
          <a:xfrm>
            <a:off x="6802589" y="365760"/>
            <a:ext cx="1139628" cy="365760"/>
          </a:xfrm>
          <a:prstGeom prst="rect">
            <a:avLst/>
          </a:prstGeom>
          <a:noFill/>
        </p:spPr>
        <p:txBody>
          <a:bodyPr wrap="square" rtlCol="0">
            <a:spAutoFit/>
          </a:bodyPr>
          <a:lstStyle/>
          <a:p>
            <a:r>
              <a:rPr lang="en-US" b="1" dirty="0" smtClean="0"/>
              <a:t>OUTPUT:</a:t>
            </a:r>
            <a:endParaRPr lang="en-US" b="1" dirty="0"/>
          </a:p>
        </p:txBody>
      </p:sp>
      <p:pic>
        <p:nvPicPr>
          <p:cNvPr id="7" name="Picture 6"/>
          <p:cNvPicPr>
            <a:picLocks noChangeAspect="1"/>
          </p:cNvPicPr>
          <p:nvPr/>
        </p:nvPicPr>
        <p:blipFill>
          <a:blip r:embed="rId3"/>
          <a:stretch>
            <a:fillRect/>
          </a:stretch>
        </p:blipFill>
        <p:spPr>
          <a:xfrm>
            <a:off x="7873497" y="213803"/>
            <a:ext cx="1489165" cy="744583"/>
          </a:xfrm>
          <a:prstGeom prst="rect">
            <a:avLst/>
          </a:prstGeom>
        </p:spPr>
      </p:pic>
      <p:sp>
        <p:nvSpPr>
          <p:cNvPr id="8" name="TextBox 7"/>
          <p:cNvSpPr txBox="1"/>
          <p:nvPr/>
        </p:nvSpPr>
        <p:spPr>
          <a:xfrm>
            <a:off x="237143" y="2508158"/>
            <a:ext cx="3612715" cy="923330"/>
          </a:xfrm>
          <a:prstGeom prst="rect">
            <a:avLst/>
          </a:prstGeom>
          <a:noFill/>
        </p:spPr>
        <p:txBody>
          <a:bodyPr wrap="square" rtlCol="0">
            <a:spAutoFit/>
          </a:bodyPr>
          <a:lstStyle/>
          <a:p>
            <a:pPr marL="457200" indent="-457200">
              <a:buFont typeface="+mj-lt"/>
              <a:buAutoNum type="alphaUcPeriod" startAt="2"/>
            </a:pPr>
            <a:r>
              <a:rPr lang="en-US" b="1" dirty="0" smtClean="0"/>
              <a:t>THROUGHPUT ANALYSIS: </a:t>
            </a:r>
            <a:endParaRPr lang="en-US" b="1" dirty="0" smtClean="0"/>
          </a:p>
          <a:p>
            <a:endParaRPr lang="en-US" dirty="0"/>
          </a:p>
          <a:p>
            <a:endParaRPr lang="en-US" dirty="0"/>
          </a:p>
        </p:txBody>
      </p:sp>
      <p:pic>
        <p:nvPicPr>
          <p:cNvPr id="9" name="Picture 8"/>
          <p:cNvPicPr>
            <a:picLocks noChangeAspect="1"/>
          </p:cNvPicPr>
          <p:nvPr/>
        </p:nvPicPr>
        <p:blipFill>
          <a:blip r:embed="rId4"/>
          <a:stretch>
            <a:fillRect/>
          </a:stretch>
        </p:blipFill>
        <p:spPr>
          <a:xfrm>
            <a:off x="531980" y="3001924"/>
            <a:ext cx="7319219" cy="513850"/>
          </a:xfrm>
          <a:prstGeom prst="rect">
            <a:avLst/>
          </a:prstGeom>
        </p:spPr>
      </p:pic>
      <p:sp>
        <p:nvSpPr>
          <p:cNvPr id="10" name="Rectangle 9"/>
          <p:cNvSpPr/>
          <p:nvPr/>
        </p:nvSpPr>
        <p:spPr>
          <a:xfrm>
            <a:off x="531980" y="3583171"/>
            <a:ext cx="11250280" cy="830997"/>
          </a:xfrm>
          <a:prstGeom prst="rect">
            <a:avLst/>
          </a:prstGeom>
        </p:spPr>
        <p:txBody>
          <a:bodyPr wrap="square">
            <a:spAutoFit/>
          </a:bodyPr>
          <a:lstStyle/>
          <a:p>
            <a:r>
              <a:rPr lang="en-US" sz="1600" dirty="0" smtClean="0"/>
              <a:t>This SQL query calculates the weekly throughput for </a:t>
            </a:r>
            <a:r>
              <a:rPr lang="en-US" sz="1600" dirty="0" err="1" smtClean="0"/>
              <a:t>job_data</a:t>
            </a:r>
            <a:r>
              <a:rPr lang="en-US" sz="1600" dirty="0" smtClean="0"/>
              <a:t>, which is the ratio of the total count of events to the sum of time spent on those events, rounded to two decimal places. This metric represents the efficiency of processing events in terms of events completed per unit of time spent, giving an indication of system performance or workload.</a:t>
            </a:r>
            <a:endParaRPr lang="en-US" sz="1600" dirty="0"/>
          </a:p>
        </p:txBody>
      </p:sp>
      <p:pic>
        <p:nvPicPr>
          <p:cNvPr id="11" name="Picture 10"/>
          <p:cNvPicPr>
            <a:picLocks noChangeAspect="1"/>
          </p:cNvPicPr>
          <p:nvPr/>
        </p:nvPicPr>
        <p:blipFill>
          <a:blip r:embed="rId5"/>
          <a:stretch>
            <a:fillRect/>
          </a:stretch>
        </p:blipFill>
        <p:spPr>
          <a:xfrm>
            <a:off x="9362662" y="2715162"/>
            <a:ext cx="1544091" cy="870082"/>
          </a:xfrm>
          <a:prstGeom prst="rect">
            <a:avLst/>
          </a:prstGeom>
        </p:spPr>
      </p:pic>
      <p:sp>
        <p:nvSpPr>
          <p:cNvPr id="12" name="TextBox 11"/>
          <p:cNvSpPr txBox="1"/>
          <p:nvPr/>
        </p:nvSpPr>
        <p:spPr>
          <a:xfrm>
            <a:off x="8223034" y="2988651"/>
            <a:ext cx="1139628" cy="365760"/>
          </a:xfrm>
          <a:prstGeom prst="rect">
            <a:avLst/>
          </a:prstGeom>
          <a:noFill/>
        </p:spPr>
        <p:txBody>
          <a:bodyPr wrap="square" rtlCol="0">
            <a:spAutoFit/>
          </a:bodyPr>
          <a:lstStyle/>
          <a:p>
            <a:r>
              <a:rPr lang="en-US" b="1" dirty="0" smtClean="0"/>
              <a:t>OUTPUT:</a:t>
            </a:r>
            <a:endParaRPr lang="en-US" b="1" dirty="0"/>
          </a:p>
        </p:txBody>
      </p:sp>
      <p:pic>
        <p:nvPicPr>
          <p:cNvPr id="13" name="Picture 12"/>
          <p:cNvPicPr>
            <a:picLocks noChangeAspect="1"/>
          </p:cNvPicPr>
          <p:nvPr/>
        </p:nvPicPr>
        <p:blipFill>
          <a:blip r:embed="rId6"/>
          <a:stretch>
            <a:fillRect/>
          </a:stretch>
        </p:blipFill>
        <p:spPr>
          <a:xfrm>
            <a:off x="568991" y="4681207"/>
            <a:ext cx="8223857" cy="745365"/>
          </a:xfrm>
          <a:prstGeom prst="rect">
            <a:avLst/>
          </a:prstGeom>
        </p:spPr>
      </p:pic>
      <p:sp>
        <p:nvSpPr>
          <p:cNvPr id="14" name="Rectangle 13"/>
          <p:cNvSpPr/>
          <p:nvPr/>
        </p:nvSpPr>
        <p:spPr>
          <a:xfrm>
            <a:off x="435780" y="5549868"/>
            <a:ext cx="11555924" cy="830997"/>
          </a:xfrm>
          <a:prstGeom prst="rect">
            <a:avLst/>
          </a:prstGeom>
        </p:spPr>
        <p:txBody>
          <a:bodyPr wrap="square">
            <a:spAutoFit/>
          </a:bodyPr>
          <a:lstStyle/>
          <a:p>
            <a:r>
              <a:rPr lang="en-US" sz="1600" dirty="0" smtClean="0"/>
              <a:t>This SQL query calculates the daily throughput for </a:t>
            </a:r>
            <a:r>
              <a:rPr lang="en-US" sz="1600" dirty="0" err="1" smtClean="0"/>
              <a:t>job_data</a:t>
            </a:r>
            <a:r>
              <a:rPr lang="en-US" sz="1600" dirty="0" smtClean="0"/>
              <a:t> by grouping data by date (ds). It computes the ratio of the total count of events to the sum of time spent on those events for each day. The result is ordered by date, providing a daily measure of efficiency in event processing, rounded to two decimal places, which can help identify performance trends over time.</a:t>
            </a:r>
            <a:endParaRPr lang="en-US" sz="1600" dirty="0"/>
          </a:p>
        </p:txBody>
      </p:sp>
    </p:spTree>
    <p:extLst>
      <p:ext uri="{BB962C8B-B14F-4D97-AF65-F5344CB8AC3E}">
        <p14:creationId xmlns:p14="http://schemas.microsoft.com/office/powerpoint/2010/main" val="408171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10663" y="3445367"/>
            <a:ext cx="11372034" cy="1077218"/>
          </a:xfrm>
          <a:prstGeom prst="rect">
            <a:avLst/>
          </a:prstGeom>
          <a:noFill/>
        </p:spPr>
        <p:txBody>
          <a:bodyPr wrap="square" rtlCol="0">
            <a:spAutoFit/>
          </a:bodyPr>
          <a:lstStyle/>
          <a:p>
            <a:r>
              <a:rPr lang="en-US" sz="1600" dirty="0" smtClean="0"/>
              <a:t>This SQL query calculates the percentage share of each language in the </a:t>
            </a:r>
            <a:r>
              <a:rPr lang="en-US" sz="1600" dirty="0" err="1" smtClean="0"/>
              <a:t>job_data</a:t>
            </a:r>
            <a:r>
              <a:rPr lang="en-US" sz="1600" dirty="0" smtClean="0"/>
              <a:t> table, rounding the result to two decimal places. It does this by counting the occurrences of each language and dividing it by the total count of rows in the </a:t>
            </a:r>
            <a:r>
              <a:rPr lang="en-US" sz="1600" dirty="0" err="1" smtClean="0"/>
              <a:t>job_data</a:t>
            </a:r>
            <a:r>
              <a:rPr lang="en-US" sz="1600" dirty="0" smtClean="0"/>
              <a:t> table (</a:t>
            </a:r>
            <a:r>
              <a:rPr lang="en-US" sz="1600" dirty="0" err="1" smtClean="0"/>
              <a:t>sub.total</a:t>
            </a:r>
            <a:r>
              <a:rPr lang="en-US" sz="1600" dirty="0" smtClean="0"/>
              <a:t>). The "languages" column represents the languages, "percentage" shows their percentage share, and "</a:t>
            </a:r>
            <a:r>
              <a:rPr lang="en-US" sz="1600" dirty="0" err="1" smtClean="0"/>
              <a:t>sub.total</a:t>
            </a:r>
            <a:r>
              <a:rPr lang="en-US" sz="1600" dirty="0" smtClean="0"/>
              <a:t>" displays the total row count for reference. The CROSS JOIN with a subquery ensures the total count is available for all language groups.</a:t>
            </a:r>
            <a:endParaRPr lang="en-US" sz="1600" dirty="0"/>
          </a:p>
        </p:txBody>
      </p:sp>
      <p:sp>
        <p:nvSpPr>
          <p:cNvPr id="12" name="TextBox 11"/>
          <p:cNvSpPr txBox="1"/>
          <p:nvPr/>
        </p:nvSpPr>
        <p:spPr>
          <a:xfrm>
            <a:off x="533360" y="4960899"/>
            <a:ext cx="1246349" cy="365760"/>
          </a:xfrm>
          <a:prstGeom prst="rect">
            <a:avLst/>
          </a:prstGeom>
          <a:noFill/>
        </p:spPr>
        <p:txBody>
          <a:bodyPr wrap="square" rtlCol="0">
            <a:spAutoFit/>
          </a:bodyPr>
          <a:lstStyle/>
          <a:p>
            <a:r>
              <a:rPr lang="en-US" b="1" dirty="0" smtClean="0"/>
              <a:t>OUTPUT:</a:t>
            </a:r>
            <a:endParaRPr lang="en-US" b="1" dirty="0"/>
          </a:p>
        </p:txBody>
      </p:sp>
      <p:pic>
        <p:nvPicPr>
          <p:cNvPr id="2" name="Picture 1"/>
          <p:cNvPicPr>
            <a:picLocks noChangeAspect="1"/>
          </p:cNvPicPr>
          <p:nvPr/>
        </p:nvPicPr>
        <p:blipFill>
          <a:blip r:embed="rId2"/>
          <a:stretch>
            <a:fillRect/>
          </a:stretch>
        </p:blipFill>
        <p:spPr>
          <a:xfrm>
            <a:off x="1596133" y="141577"/>
            <a:ext cx="1876687" cy="1371791"/>
          </a:xfrm>
          <a:prstGeom prst="rect">
            <a:avLst/>
          </a:prstGeom>
        </p:spPr>
      </p:pic>
      <p:sp>
        <p:nvSpPr>
          <p:cNvPr id="14" name="TextBox 13"/>
          <p:cNvSpPr txBox="1"/>
          <p:nvPr/>
        </p:nvSpPr>
        <p:spPr>
          <a:xfrm>
            <a:off x="533360" y="271577"/>
            <a:ext cx="1139628" cy="365760"/>
          </a:xfrm>
          <a:prstGeom prst="rect">
            <a:avLst/>
          </a:prstGeom>
          <a:noFill/>
        </p:spPr>
        <p:txBody>
          <a:bodyPr wrap="square" rtlCol="0">
            <a:spAutoFit/>
          </a:bodyPr>
          <a:lstStyle/>
          <a:p>
            <a:r>
              <a:rPr lang="en-US" b="1" dirty="0" smtClean="0"/>
              <a:t>OUTPUT:</a:t>
            </a:r>
            <a:endParaRPr lang="en-US" b="1" dirty="0"/>
          </a:p>
        </p:txBody>
      </p:sp>
      <p:sp>
        <p:nvSpPr>
          <p:cNvPr id="3" name="TextBox 2"/>
          <p:cNvSpPr txBox="1"/>
          <p:nvPr/>
        </p:nvSpPr>
        <p:spPr>
          <a:xfrm>
            <a:off x="3653354" y="504306"/>
            <a:ext cx="7423947" cy="584775"/>
          </a:xfrm>
          <a:prstGeom prst="rect">
            <a:avLst/>
          </a:prstGeom>
          <a:noFill/>
        </p:spPr>
        <p:txBody>
          <a:bodyPr wrap="square" rtlCol="0">
            <a:spAutoFit/>
          </a:bodyPr>
          <a:lstStyle/>
          <a:p>
            <a:r>
              <a:rPr lang="en-US" sz="1600" b="1" dirty="0" smtClean="0"/>
              <a:t>I would prefer daily metric over 7-day rolling average as it provides </a:t>
            </a:r>
            <a:r>
              <a:rPr lang="en-US" sz="1600" b="1" dirty="0"/>
              <a:t>a granular view of system performance, allowing </a:t>
            </a:r>
            <a:r>
              <a:rPr lang="en-US" sz="1600" b="1" dirty="0" smtClean="0"/>
              <a:t>to </a:t>
            </a:r>
            <a:r>
              <a:rPr lang="en-US" sz="1600" b="1" dirty="0"/>
              <a:t>pinpoint daily variations and trends.</a:t>
            </a:r>
          </a:p>
        </p:txBody>
      </p:sp>
      <p:sp>
        <p:nvSpPr>
          <p:cNvPr id="15" name="TextBox 14"/>
          <p:cNvSpPr txBox="1"/>
          <p:nvPr/>
        </p:nvSpPr>
        <p:spPr>
          <a:xfrm>
            <a:off x="349784" y="1695407"/>
            <a:ext cx="3612715" cy="923330"/>
          </a:xfrm>
          <a:prstGeom prst="rect">
            <a:avLst/>
          </a:prstGeom>
          <a:noFill/>
        </p:spPr>
        <p:txBody>
          <a:bodyPr wrap="square" rtlCol="0">
            <a:spAutoFit/>
          </a:bodyPr>
          <a:lstStyle/>
          <a:p>
            <a:pPr marL="457200" indent="-457200">
              <a:buFont typeface="+mj-lt"/>
              <a:buAutoNum type="alphaUcPeriod" startAt="3"/>
            </a:pPr>
            <a:r>
              <a:rPr lang="en-US" b="1" dirty="0" smtClean="0"/>
              <a:t>LANGUAGE SHARE</a:t>
            </a:r>
            <a:r>
              <a:rPr lang="en-US" b="1" dirty="0" smtClean="0"/>
              <a:t> ANALYSIS: </a:t>
            </a:r>
            <a:endParaRPr lang="en-US" b="1" dirty="0" smtClean="0"/>
          </a:p>
          <a:p>
            <a:endParaRPr lang="en-US" dirty="0"/>
          </a:p>
          <a:p>
            <a:endParaRPr lang="en-US" dirty="0"/>
          </a:p>
        </p:txBody>
      </p:sp>
      <p:pic>
        <p:nvPicPr>
          <p:cNvPr id="4" name="Picture 3"/>
          <p:cNvPicPr>
            <a:picLocks noChangeAspect="1"/>
          </p:cNvPicPr>
          <p:nvPr/>
        </p:nvPicPr>
        <p:blipFill>
          <a:blip r:embed="rId3"/>
          <a:stretch>
            <a:fillRect/>
          </a:stretch>
        </p:blipFill>
        <p:spPr>
          <a:xfrm>
            <a:off x="685106" y="2158498"/>
            <a:ext cx="6914465" cy="1259296"/>
          </a:xfrm>
          <a:prstGeom prst="rect">
            <a:avLst/>
          </a:prstGeom>
        </p:spPr>
      </p:pic>
      <p:pic>
        <p:nvPicPr>
          <p:cNvPr id="16" name="Picture 15"/>
          <p:cNvPicPr>
            <a:picLocks noChangeAspect="1"/>
          </p:cNvPicPr>
          <p:nvPr/>
        </p:nvPicPr>
        <p:blipFill>
          <a:blip r:embed="rId4"/>
          <a:stretch>
            <a:fillRect/>
          </a:stretch>
        </p:blipFill>
        <p:spPr>
          <a:xfrm>
            <a:off x="1723339" y="4753819"/>
            <a:ext cx="2778809" cy="1686170"/>
          </a:xfrm>
          <a:prstGeom prst="rect">
            <a:avLst/>
          </a:prstGeom>
        </p:spPr>
      </p:pic>
    </p:spTree>
    <p:extLst>
      <p:ext uri="{BB962C8B-B14F-4D97-AF65-F5344CB8AC3E}">
        <p14:creationId xmlns:p14="http://schemas.microsoft.com/office/powerpoint/2010/main" val="237052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42023" y="212578"/>
            <a:ext cx="6549977" cy="1569660"/>
          </a:xfrm>
          <a:prstGeom prst="rect">
            <a:avLst/>
          </a:prstGeom>
          <a:noFill/>
        </p:spPr>
        <p:txBody>
          <a:bodyPr wrap="square" rtlCol="0">
            <a:spAutoFit/>
          </a:bodyPr>
          <a:lstStyle/>
          <a:p>
            <a:r>
              <a:rPr lang="en-US" sz="1600" dirty="0" smtClean="0"/>
              <a:t>This SQL query employs the ROW_NUMBER() function with PARTITION BY to assign a unique row number to each row within its respective "</a:t>
            </a:r>
            <a:r>
              <a:rPr lang="en-US" sz="1600" dirty="0" err="1" smtClean="0"/>
              <a:t>job_id</a:t>
            </a:r>
            <a:r>
              <a:rPr lang="en-US" sz="1600" dirty="0" smtClean="0"/>
              <a:t>" group in the "</a:t>
            </a:r>
            <a:r>
              <a:rPr lang="en-US" sz="1600" dirty="0" err="1" smtClean="0"/>
              <a:t>job_data</a:t>
            </a:r>
            <a:r>
              <a:rPr lang="en-US" sz="1600" dirty="0" smtClean="0"/>
              <a:t>" table. The query then selects rows where the assigned row number (</a:t>
            </a:r>
            <a:r>
              <a:rPr lang="en-US" sz="1600" dirty="0" err="1" smtClean="0"/>
              <a:t>rownum</a:t>
            </a:r>
            <a:r>
              <a:rPr lang="en-US" sz="1600" dirty="0" smtClean="0"/>
              <a:t>) is greater than 1. This effectively retrieves duplicate rows based on the "</a:t>
            </a:r>
            <a:r>
              <a:rPr lang="en-US" sz="1600" dirty="0" err="1" smtClean="0"/>
              <a:t>job_id</a:t>
            </a:r>
            <a:r>
              <a:rPr lang="en-US" sz="1600" dirty="0" smtClean="0"/>
              <a:t>" column, allowing for the identification and retrieval of records with duplicate job IDs in the dataset.</a:t>
            </a:r>
            <a:endParaRPr lang="en-US" sz="1600" dirty="0"/>
          </a:p>
        </p:txBody>
      </p:sp>
      <p:pic>
        <p:nvPicPr>
          <p:cNvPr id="5" name="Picture 4"/>
          <p:cNvPicPr>
            <a:picLocks noChangeAspect="1"/>
          </p:cNvPicPr>
          <p:nvPr/>
        </p:nvPicPr>
        <p:blipFill>
          <a:blip r:embed="rId2"/>
          <a:stretch>
            <a:fillRect/>
          </a:stretch>
        </p:blipFill>
        <p:spPr>
          <a:xfrm>
            <a:off x="274321" y="2460585"/>
            <a:ext cx="2625634" cy="499915"/>
          </a:xfrm>
          <a:prstGeom prst="rect">
            <a:avLst/>
          </a:prstGeom>
        </p:spPr>
      </p:pic>
      <p:sp>
        <p:nvSpPr>
          <p:cNvPr id="12" name="TextBox 11"/>
          <p:cNvSpPr txBox="1"/>
          <p:nvPr/>
        </p:nvSpPr>
        <p:spPr>
          <a:xfrm>
            <a:off x="274320" y="197729"/>
            <a:ext cx="3612715" cy="923330"/>
          </a:xfrm>
          <a:prstGeom prst="rect">
            <a:avLst/>
          </a:prstGeom>
          <a:noFill/>
        </p:spPr>
        <p:txBody>
          <a:bodyPr wrap="square" rtlCol="0">
            <a:spAutoFit/>
          </a:bodyPr>
          <a:lstStyle/>
          <a:p>
            <a:pPr marL="457200" indent="-457200">
              <a:buFont typeface="+mj-lt"/>
              <a:buAutoNum type="alphaUcPeriod" startAt="4"/>
            </a:pPr>
            <a:r>
              <a:rPr lang="en-US" b="1" dirty="0" smtClean="0"/>
              <a:t>DUPLICATE ROWS DETENTION: </a:t>
            </a:r>
            <a:endParaRPr lang="en-US" b="1" dirty="0" smtClean="0"/>
          </a:p>
          <a:p>
            <a:endParaRPr lang="en-US" dirty="0"/>
          </a:p>
          <a:p>
            <a:endParaRPr lang="en-US" dirty="0"/>
          </a:p>
        </p:txBody>
      </p:sp>
      <p:pic>
        <p:nvPicPr>
          <p:cNvPr id="10" name="Picture 9"/>
          <p:cNvPicPr>
            <a:picLocks noChangeAspect="1"/>
          </p:cNvPicPr>
          <p:nvPr/>
        </p:nvPicPr>
        <p:blipFill>
          <a:blip r:embed="rId3"/>
          <a:stretch>
            <a:fillRect/>
          </a:stretch>
        </p:blipFill>
        <p:spPr>
          <a:xfrm>
            <a:off x="687290" y="615950"/>
            <a:ext cx="4793624" cy="1195532"/>
          </a:xfrm>
          <a:prstGeom prst="rect">
            <a:avLst/>
          </a:prstGeom>
        </p:spPr>
      </p:pic>
      <p:pic>
        <p:nvPicPr>
          <p:cNvPr id="13" name="Picture 12"/>
          <p:cNvPicPr>
            <a:picLocks noChangeAspect="1"/>
          </p:cNvPicPr>
          <p:nvPr/>
        </p:nvPicPr>
        <p:blipFill>
          <a:blip r:embed="rId4"/>
          <a:stretch>
            <a:fillRect/>
          </a:stretch>
        </p:blipFill>
        <p:spPr>
          <a:xfrm>
            <a:off x="1587137" y="2368277"/>
            <a:ext cx="5323113" cy="683007"/>
          </a:xfrm>
          <a:prstGeom prst="rect">
            <a:avLst/>
          </a:prstGeom>
        </p:spPr>
      </p:pic>
      <p:sp>
        <p:nvSpPr>
          <p:cNvPr id="14" name="Rectangle 13"/>
          <p:cNvSpPr/>
          <p:nvPr/>
        </p:nvSpPr>
        <p:spPr>
          <a:xfrm>
            <a:off x="351515" y="3465382"/>
            <a:ext cx="4458785" cy="369332"/>
          </a:xfrm>
          <a:prstGeom prst="rect">
            <a:avLst/>
          </a:prstGeom>
        </p:spPr>
        <p:txBody>
          <a:bodyPr wrap="none">
            <a:spAutoFit/>
          </a:bodyPr>
          <a:lstStyle/>
          <a:p>
            <a:r>
              <a:rPr lang="en-US" b="1" dirty="0" smtClean="0"/>
              <a:t>(Case Study – 2 : Investigating Metric Spike)</a:t>
            </a:r>
            <a:endParaRPr lang="en-US" dirty="0"/>
          </a:p>
        </p:txBody>
      </p:sp>
      <p:sp>
        <p:nvSpPr>
          <p:cNvPr id="16" name="Rectangle 15"/>
          <p:cNvSpPr/>
          <p:nvPr/>
        </p:nvSpPr>
        <p:spPr>
          <a:xfrm>
            <a:off x="351515" y="3929145"/>
            <a:ext cx="11614062" cy="646331"/>
          </a:xfrm>
          <a:prstGeom prst="rect">
            <a:avLst/>
          </a:prstGeom>
        </p:spPr>
        <p:txBody>
          <a:bodyPr wrap="square">
            <a:spAutoFit/>
          </a:bodyPr>
          <a:lstStyle/>
          <a:p>
            <a:pPr marL="285750" indent="-285750">
              <a:buFont typeface="Arial" panose="020B0604020202020204" pitchFamily="34" charset="0"/>
              <a:buChar char="•"/>
            </a:pPr>
            <a:r>
              <a:rPr lang="en-US" dirty="0" smtClean="0"/>
              <a:t>For Case Study - 2 I have created tables named </a:t>
            </a:r>
            <a:r>
              <a:rPr lang="en-US" b="1" dirty="0" smtClean="0"/>
              <a:t>users</a:t>
            </a:r>
            <a:r>
              <a:rPr lang="en-US" dirty="0" smtClean="0"/>
              <a:t>, </a:t>
            </a:r>
            <a:r>
              <a:rPr lang="en-US" b="1" dirty="0" smtClean="0"/>
              <a:t>events</a:t>
            </a:r>
            <a:r>
              <a:rPr lang="en-US" dirty="0" smtClean="0"/>
              <a:t> and </a:t>
            </a:r>
            <a:r>
              <a:rPr lang="en-US" b="1" dirty="0" err="1" smtClean="0"/>
              <a:t>emails_events</a:t>
            </a:r>
            <a:r>
              <a:rPr lang="en-US" dirty="0" smtClean="0"/>
              <a:t> then used load data </a:t>
            </a:r>
            <a:r>
              <a:rPr lang="en-US" dirty="0" err="1" smtClean="0"/>
              <a:t>infile</a:t>
            </a:r>
            <a:r>
              <a:rPr lang="en-US" dirty="0" smtClean="0"/>
              <a:t> command to insert the values from the provided excel sheets.</a:t>
            </a:r>
            <a:endParaRPr lang="en-US" dirty="0" smtClean="0"/>
          </a:p>
        </p:txBody>
      </p:sp>
      <p:pic>
        <p:nvPicPr>
          <p:cNvPr id="17" name="Picture 16"/>
          <p:cNvPicPr>
            <a:picLocks noChangeAspect="1"/>
          </p:cNvPicPr>
          <p:nvPr/>
        </p:nvPicPr>
        <p:blipFill>
          <a:blip r:embed="rId5"/>
          <a:stretch>
            <a:fillRect/>
          </a:stretch>
        </p:blipFill>
        <p:spPr>
          <a:xfrm>
            <a:off x="2492938" y="4732825"/>
            <a:ext cx="2987976" cy="1884888"/>
          </a:xfrm>
          <a:prstGeom prst="rect">
            <a:avLst/>
          </a:prstGeom>
        </p:spPr>
      </p:pic>
      <p:sp>
        <p:nvSpPr>
          <p:cNvPr id="18" name="TextBox 17"/>
          <p:cNvSpPr txBox="1"/>
          <p:nvPr/>
        </p:nvSpPr>
        <p:spPr>
          <a:xfrm>
            <a:off x="845055" y="4966217"/>
            <a:ext cx="1235622" cy="338554"/>
          </a:xfrm>
          <a:prstGeom prst="rect">
            <a:avLst/>
          </a:prstGeom>
          <a:noFill/>
        </p:spPr>
        <p:txBody>
          <a:bodyPr wrap="square" rtlCol="0">
            <a:spAutoFit/>
          </a:bodyPr>
          <a:lstStyle/>
          <a:p>
            <a:r>
              <a:rPr lang="en-US" sz="1600" b="1" dirty="0"/>
              <a:t>u</a:t>
            </a:r>
            <a:r>
              <a:rPr lang="en-US" sz="1600" b="1" dirty="0" smtClean="0"/>
              <a:t>sers table:</a:t>
            </a:r>
            <a:endParaRPr lang="en-US" sz="1600" b="1" dirty="0"/>
          </a:p>
        </p:txBody>
      </p:sp>
      <p:pic>
        <p:nvPicPr>
          <p:cNvPr id="19" name="Picture 18"/>
          <p:cNvPicPr>
            <a:picLocks noChangeAspect="1"/>
          </p:cNvPicPr>
          <p:nvPr/>
        </p:nvPicPr>
        <p:blipFill>
          <a:blip r:embed="rId6"/>
          <a:stretch>
            <a:fillRect/>
          </a:stretch>
        </p:blipFill>
        <p:spPr>
          <a:xfrm>
            <a:off x="5982671" y="4953324"/>
            <a:ext cx="5582429" cy="1209844"/>
          </a:xfrm>
          <a:prstGeom prst="rect">
            <a:avLst/>
          </a:prstGeom>
        </p:spPr>
      </p:pic>
    </p:spTree>
    <p:extLst>
      <p:ext uri="{BB962C8B-B14F-4D97-AF65-F5344CB8AC3E}">
        <p14:creationId xmlns:p14="http://schemas.microsoft.com/office/powerpoint/2010/main" val="2312437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0355" y="74805"/>
            <a:ext cx="2525178" cy="369332"/>
          </a:xfrm>
          <a:prstGeom prst="rect">
            <a:avLst/>
          </a:prstGeom>
        </p:spPr>
        <p:txBody>
          <a:bodyPr wrap="none">
            <a:spAutoFit/>
          </a:bodyPr>
          <a:lstStyle/>
          <a:p>
            <a:r>
              <a:rPr lang="en-US" b="1" dirty="0"/>
              <a:t>Altering the users </a:t>
            </a:r>
            <a:r>
              <a:rPr lang="en-US" b="1" dirty="0" smtClean="0"/>
              <a:t>table :</a:t>
            </a:r>
            <a:endParaRPr lang="en-US" b="1" dirty="0"/>
          </a:p>
        </p:txBody>
      </p:sp>
      <p:pic>
        <p:nvPicPr>
          <p:cNvPr id="4" name="Picture 3"/>
          <p:cNvPicPr>
            <a:picLocks noChangeAspect="1"/>
          </p:cNvPicPr>
          <p:nvPr/>
        </p:nvPicPr>
        <p:blipFill>
          <a:blip r:embed="rId2"/>
          <a:stretch>
            <a:fillRect/>
          </a:stretch>
        </p:blipFill>
        <p:spPr>
          <a:xfrm>
            <a:off x="332874" y="595522"/>
            <a:ext cx="5229955" cy="885949"/>
          </a:xfrm>
          <a:prstGeom prst="rect">
            <a:avLst/>
          </a:prstGeom>
        </p:spPr>
      </p:pic>
      <p:pic>
        <p:nvPicPr>
          <p:cNvPr id="5" name="Picture 4"/>
          <p:cNvPicPr>
            <a:picLocks noChangeAspect="1"/>
          </p:cNvPicPr>
          <p:nvPr/>
        </p:nvPicPr>
        <p:blipFill>
          <a:blip r:embed="rId3"/>
          <a:stretch>
            <a:fillRect/>
          </a:stretch>
        </p:blipFill>
        <p:spPr>
          <a:xfrm>
            <a:off x="5759519" y="595521"/>
            <a:ext cx="5506218" cy="885949"/>
          </a:xfrm>
          <a:prstGeom prst="rect">
            <a:avLst/>
          </a:prstGeom>
        </p:spPr>
      </p:pic>
      <p:sp>
        <p:nvSpPr>
          <p:cNvPr id="6" name="TextBox 5"/>
          <p:cNvSpPr txBox="1"/>
          <p:nvPr/>
        </p:nvSpPr>
        <p:spPr>
          <a:xfrm>
            <a:off x="180355" y="1632856"/>
            <a:ext cx="1426376" cy="338554"/>
          </a:xfrm>
          <a:prstGeom prst="rect">
            <a:avLst/>
          </a:prstGeom>
          <a:noFill/>
        </p:spPr>
        <p:txBody>
          <a:bodyPr wrap="square" rtlCol="0">
            <a:spAutoFit/>
          </a:bodyPr>
          <a:lstStyle/>
          <a:p>
            <a:r>
              <a:rPr lang="en-US" sz="1600" b="1" dirty="0"/>
              <a:t>e</a:t>
            </a:r>
            <a:r>
              <a:rPr lang="en-US" sz="1600" b="1" dirty="0" smtClean="0"/>
              <a:t>vents table:</a:t>
            </a:r>
            <a:endParaRPr lang="en-US" sz="1600" b="1" dirty="0"/>
          </a:p>
        </p:txBody>
      </p:sp>
      <p:pic>
        <p:nvPicPr>
          <p:cNvPr id="7" name="Picture 6"/>
          <p:cNvPicPr>
            <a:picLocks noChangeAspect="1"/>
          </p:cNvPicPr>
          <p:nvPr/>
        </p:nvPicPr>
        <p:blipFill>
          <a:blip r:embed="rId4"/>
          <a:stretch>
            <a:fillRect/>
          </a:stretch>
        </p:blipFill>
        <p:spPr>
          <a:xfrm>
            <a:off x="1791005" y="1632856"/>
            <a:ext cx="1829055" cy="1819529"/>
          </a:xfrm>
          <a:prstGeom prst="rect">
            <a:avLst/>
          </a:prstGeom>
        </p:spPr>
      </p:pic>
      <p:pic>
        <p:nvPicPr>
          <p:cNvPr id="8" name="Picture 7"/>
          <p:cNvPicPr>
            <a:picLocks noChangeAspect="1"/>
          </p:cNvPicPr>
          <p:nvPr/>
        </p:nvPicPr>
        <p:blipFill>
          <a:blip r:embed="rId5"/>
          <a:stretch>
            <a:fillRect/>
          </a:stretch>
        </p:blipFill>
        <p:spPr>
          <a:xfrm>
            <a:off x="4505262" y="1850800"/>
            <a:ext cx="5153744" cy="1247949"/>
          </a:xfrm>
          <a:prstGeom prst="rect">
            <a:avLst/>
          </a:prstGeom>
        </p:spPr>
      </p:pic>
      <p:sp>
        <p:nvSpPr>
          <p:cNvPr id="9" name="Rectangle 8"/>
          <p:cNvSpPr/>
          <p:nvPr/>
        </p:nvSpPr>
        <p:spPr>
          <a:xfrm>
            <a:off x="180355" y="3673209"/>
            <a:ext cx="2654060" cy="369332"/>
          </a:xfrm>
          <a:prstGeom prst="rect">
            <a:avLst/>
          </a:prstGeom>
        </p:spPr>
        <p:txBody>
          <a:bodyPr wrap="none">
            <a:spAutoFit/>
          </a:bodyPr>
          <a:lstStyle/>
          <a:p>
            <a:r>
              <a:rPr lang="en-US" b="1" dirty="0"/>
              <a:t>Altering the </a:t>
            </a:r>
            <a:r>
              <a:rPr lang="en-US" b="1" dirty="0" smtClean="0"/>
              <a:t>events table :</a:t>
            </a:r>
            <a:endParaRPr lang="en-US" b="1" dirty="0"/>
          </a:p>
        </p:txBody>
      </p:sp>
      <p:pic>
        <p:nvPicPr>
          <p:cNvPr id="10" name="Picture 9"/>
          <p:cNvPicPr>
            <a:picLocks noChangeAspect="1"/>
          </p:cNvPicPr>
          <p:nvPr/>
        </p:nvPicPr>
        <p:blipFill>
          <a:blip r:embed="rId6"/>
          <a:stretch>
            <a:fillRect/>
          </a:stretch>
        </p:blipFill>
        <p:spPr>
          <a:xfrm>
            <a:off x="2830060" y="3400121"/>
            <a:ext cx="6118197" cy="1033764"/>
          </a:xfrm>
          <a:prstGeom prst="rect">
            <a:avLst/>
          </a:prstGeom>
        </p:spPr>
      </p:pic>
      <p:sp>
        <p:nvSpPr>
          <p:cNvPr id="11" name="TextBox 10"/>
          <p:cNvSpPr txBox="1"/>
          <p:nvPr/>
        </p:nvSpPr>
        <p:spPr>
          <a:xfrm>
            <a:off x="180355" y="5050970"/>
            <a:ext cx="1975016" cy="338554"/>
          </a:xfrm>
          <a:prstGeom prst="rect">
            <a:avLst/>
          </a:prstGeom>
          <a:noFill/>
        </p:spPr>
        <p:txBody>
          <a:bodyPr wrap="square" rtlCol="0">
            <a:spAutoFit/>
          </a:bodyPr>
          <a:lstStyle/>
          <a:p>
            <a:r>
              <a:rPr lang="en-US" sz="1600" b="1" dirty="0" err="1" smtClean="0"/>
              <a:t>emails_events</a:t>
            </a:r>
            <a:r>
              <a:rPr lang="en-US" sz="1600" b="1" dirty="0" smtClean="0"/>
              <a:t> table:</a:t>
            </a:r>
            <a:endParaRPr lang="en-US" sz="1600" b="1" dirty="0"/>
          </a:p>
        </p:txBody>
      </p:sp>
      <p:pic>
        <p:nvPicPr>
          <p:cNvPr id="12" name="Picture 11"/>
          <p:cNvPicPr>
            <a:picLocks noChangeAspect="1"/>
          </p:cNvPicPr>
          <p:nvPr/>
        </p:nvPicPr>
        <p:blipFill>
          <a:blip r:embed="rId7"/>
          <a:stretch>
            <a:fillRect/>
          </a:stretch>
        </p:blipFill>
        <p:spPr>
          <a:xfrm>
            <a:off x="2260012" y="4920142"/>
            <a:ext cx="2416491" cy="1363762"/>
          </a:xfrm>
          <a:prstGeom prst="rect">
            <a:avLst/>
          </a:prstGeom>
        </p:spPr>
      </p:pic>
      <p:pic>
        <p:nvPicPr>
          <p:cNvPr id="13" name="Picture 12"/>
          <p:cNvPicPr>
            <a:picLocks noChangeAspect="1"/>
          </p:cNvPicPr>
          <p:nvPr/>
        </p:nvPicPr>
        <p:blipFill>
          <a:blip r:embed="rId8"/>
          <a:stretch>
            <a:fillRect/>
          </a:stretch>
        </p:blipFill>
        <p:spPr>
          <a:xfrm>
            <a:off x="5062424" y="4866014"/>
            <a:ext cx="5515745" cy="1286054"/>
          </a:xfrm>
          <a:prstGeom prst="rect">
            <a:avLst/>
          </a:prstGeom>
        </p:spPr>
      </p:pic>
    </p:spTree>
    <p:extLst>
      <p:ext uri="{BB962C8B-B14F-4D97-AF65-F5344CB8AC3E}">
        <p14:creationId xmlns:p14="http://schemas.microsoft.com/office/powerpoint/2010/main" val="209260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480" y="120112"/>
            <a:ext cx="3389839" cy="369332"/>
          </a:xfrm>
          <a:prstGeom prst="rect">
            <a:avLst/>
          </a:prstGeom>
        </p:spPr>
        <p:txBody>
          <a:bodyPr wrap="none">
            <a:spAutoFit/>
          </a:bodyPr>
          <a:lstStyle/>
          <a:p>
            <a:r>
              <a:rPr lang="en-US" b="1" dirty="0"/>
              <a:t>Altering the </a:t>
            </a:r>
            <a:r>
              <a:rPr lang="en-US" b="1" dirty="0" err="1" smtClean="0"/>
              <a:t>emails_events</a:t>
            </a:r>
            <a:r>
              <a:rPr lang="en-US" b="1" dirty="0" smtClean="0"/>
              <a:t> table :</a:t>
            </a:r>
            <a:endParaRPr lang="en-US" b="1" dirty="0"/>
          </a:p>
        </p:txBody>
      </p:sp>
      <p:pic>
        <p:nvPicPr>
          <p:cNvPr id="3" name="Picture 2"/>
          <p:cNvPicPr>
            <a:picLocks noChangeAspect="1"/>
          </p:cNvPicPr>
          <p:nvPr/>
        </p:nvPicPr>
        <p:blipFill>
          <a:blip r:embed="rId2"/>
          <a:stretch>
            <a:fillRect/>
          </a:stretch>
        </p:blipFill>
        <p:spPr>
          <a:xfrm>
            <a:off x="319108" y="609811"/>
            <a:ext cx="6763428" cy="997883"/>
          </a:xfrm>
          <a:prstGeom prst="rect">
            <a:avLst/>
          </a:prstGeom>
        </p:spPr>
      </p:pic>
      <p:sp>
        <p:nvSpPr>
          <p:cNvPr id="4" name="TextBox 3"/>
          <p:cNvSpPr txBox="1"/>
          <p:nvPr/>
        </p:nvSpPr>
        <p:spPr>
          <a:xfrm>
            <a:off x="206480" y="2152596"/>
            <a:ext cx="3612715" cy="923330"/>
          </a:xfrm>
          <a:prstGeom prst="rect">
            <a:avLst/>
          </a:prstGeom>
          <a:noFill/>
        </p:spPr>
        <p:txBody>
          <a:bodyPr wrap="square" rtlCol="0">
            <a:spAutoFit/>
          </a:bodyPr>
          <a:lstStyle/>
          <a:p>
            <a:pPr marL="457200" indent="-457200">
              <a:buFont typeface="+mj-lt"/>
              <a:buAutoNum type="alphaUcPeriod"/>
            </a:pPr>
            <a:r>
              <a:rPr lang="en-US" b="1" dirty="0" smtClean="0"/>
              <a:t>WEEKLY USER ENGAGEMENT</a:t>
            </a:r>
            <a:r>
              <a:rPr lang="en-US" b="1" dirty="0" smtClean="0"/>
              <a:t>: </a:t>
            </a:r>
            <a:endParaRPr lang="en-US" b="1" dirty="0" smtClean="0"/>
          </a:p>
          <a:p>
            <a:endParaRPr lang="en-US" dirty="0"/>
          </a:p>
          <a:p>
            <a:endParaRPr lang="en-US" dirty="0"/>
          </a:p>
        </p:txBody>
      </p:sp>
      <p:sp>
        <p:nvSpPr>
          <p:cNvPr id="5" name="Rectangle 4"/>
          <p:cNvSpPr/>
          <p:nvPr/>
        </p:nvSpPr>
        <p:spPr>
          <a:xfrm>
            <a:off x="319108" y="1650646"/>
            <a:ext cx="11267646" cy="338554"/>
          </a:xfrm>
          <a:prstGeom prst="rect">
            <a:avLst/>
          </a:prstGeom>
        </p:spPr>
        <p:txBody>
          <a:bodyPr wrap="square">
            <a:spAutoFit/>
          </a:bodyPr>
          <a:lstStyle/>
          <a:p>
            <a:pPr marL="342900" indent="-342900">
              <a:buFont typeface="Arial" panose="020B0604020202020204" pitchFamily="34" charset="0"/>
              <a:buChar char="•"/>
            </a:pPr>
            <a:r>
              <a:rPr lang="en-US" sz="1600" dirty="0" smtClean="0"/>
              <a:t>After the creation, insertion and updating of the tables I executed required SQL queries with respect to each task as follows:</a:t>
            </a:r>
            <a:endParaRPr lang="en-US" sz="1600" dirty="0" smtClean="0"/>
          </a:p>
        </p:txBody>
      </p:sp>
      <p:pic>
        <p:nvPicPr>
          <p:cNvPr id="6" name="Picture 5"/>
          <p:cNvPicPr>
            <a:picLocks noChangeAspect="1"/>
          </p:cNvPicPr>
          <p:nvPr/>
        </p:nvPicPr>
        <p:blipFill>
          <a:blip r:embed="rId3"/>
          <a:stretch>
            <a:fillRect/>
          </a:stretch>
        </p:blipFill>
        <p:spPr>
          <a:xfrm>
            <a:off x="1195752" y="2653450"/>
            <a:ext cx="4757179" cy="1858846"/>
          </a:xfrm>
          <a:prstGeom prst="rect">
            <a:avLst/>
          </a:prstGeom>
        </p:spPr>
      </p:pic>
      <p:pic>
        <p:nvPicPr>
          <p:cNvPr id="7" name="Picture 6"/>
          <p:cNvPicPr>
            <a:picLocks noChangeAspect="1"/>
          </p:cNvPicPr>
          <p:nvPr/>
        </p:nvPicPr>
        <p:blipFill>
          <a:blip r:embed="rId4"/>
          <a:stretch>
            <a:fillRect/>
          </a:stretch>
        </p:blipFill>
        <p:spPr>
          <a:xfrm>
            <a:off x="9843436" y="2297325"/>
            <a:ext cx="1743318" cy="3439005"/>
          </a:xfrm>
          <a:prstGeom prst="rect">
            <a:avLst/>
          </a:prstGeom>
        </p:spPr>
      </p:pic>
      <p:sp>
        <p:nvSpPr>
          <p:cNvPr id="8" name="TextBox 7"/>
          <p:cNvSpPr txBox="1"/>
          <p:nvPr/>
        </p:nvSpPr>
        <p:spPr>
          <a:xfrm>
            <a:off x="8710709" y="2470570"/>
            <a:ext cx="1246349" cy="365760"/>
          </a:xfrm>
          <a:prstGeom prst="rect">
            <a:avLst/>
          </a:prstGeom>
          <a:noFill/>
        </p:spPr>
        <p:txBody>
          <a:bodyPr wrap="square" rtlCol="0">
            <a:spAutoFit/>
          </a:bodyPr>
          <a:lstStyle/>
          <a:p>
            <a:r>
              <a:rPr lang="en-US" b="1" dirty="0" smtClean="0"/>
              <a:t>OUTPUT:</a:t>
            </a:r>
            <a:endParaRPr lang="en-US" b="1" dirty="0"/>
          </a:p>
        </p:txBody>
      </p:sp>
      <p:sp>
        <p:nvSpPr>
          <p:cNvPr id="9" name="Rectangle 8"/>
          <p:cNvSpPr/>
          <p:nvPr/>
        </p:nvSpPr>
        <p:spPr>
          <a:xfrm>
            <a:off x="794535" y="4739078"/>
            <a:ext cx="8804687" cy="1077218"/>
          </a:xfrm>
          <a:prstGeom prst="rect">
            <a:avLst/>
          </a:prstGeom>
        </p:spPr>
        <p:txBody>
          <a:bodyPr wrap="square">
            <a:spAutoFit/>
          </a:bodyPr>
          <a:lstStyle/>
          <a:p>
            <a:r>
              <a:rPr lang="en-US" sz="1600" dirty="0" smtClean="0"/>
              <a:t>This SQL query extracts the week number from the "</a:t>
            </a:r>
            <a:r>
              <a:rPr lang="en-US" sz="1600" dirty="0" err="1" smtClean="0"/>
              <a:t>occurred_at</a:t>
            </a:r>
            <a:r>
              <a:rPr lang="en-US" sz="1600" dirty="0" smtClean="0"/>
              <a:t>" timestamp and counts the distinct "</a:t>
            </a:r>
            <a:r>
              <a:rPr lang="en-US" sz="1600" dirty="0" err="1" smtClean="0"/>
              <a:t>user_id</a:t>
            </a:r>
            <a:r>
              <a:rPr lang="en-US" sz="1600" dirty="0" smtClean="0"/>
              <a:t>" values for events with the event type 'engagement.' It groups the results by week number and orders them accordingly. Essentially, this query provides a count of active users engaged with events for each week, allowing for the analysis of user activity trends over time.</a:t>
            </a:r>
            <a:endParaRPr lang="en-US" sz="1600" dirty="0"/>
          </a:p>
        </p:txBody>
      </p:sp>
    </p:spTree>
    <p:extLst>
      <p:ext uri="{BB962C8B-B14F-4D97-AF65-F5344CB8AC3E}">
        <p14:creationId xmlns:p14="http://schemas.microsoft.com/office/powerpoint/2010/main" val="252153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35549" y="3157639"/>
            <a:ext cx="11645318" cy="1077218"/>
          </a:xfrm>
          <a:prstGeom prst="rect">
            <a:avLst/>
          </a:prstGeom>
          <a:noFill/>
        </p:spPr>
        <p:txBody>
          <a:bodyPr wrap="square" rtlCol="0">
            <a:spAutoFit/>
          </a:bodyPr>
          <a:lstStyle/>
          <a:p>
            <a:r>
              <a:rPr lang="en-US" sz="1600" dirty="0" smtClean="0"/>
              <a:t>This SQL query calculates the count of active users for each week based on the "</a:t>
            </a:r>
            <a:r>
              <a:rPr lang="en-US" sz="1600" dirty="0" err="1" smtClean="0"/>
              <a:t>activated_at</a:t>
            </a:r>
            <a:r>
              <a:rPr lang="en-US" sz="1600" dirty="0" smtClean="0"/>
              <a:t>" timestamp in the "users" table. It uses the YEARWEEK function to extract the year and week from the timestamp, grouping the results by week. Additionally, it employs a window function with SUM to compute the cumulative count of active users over time, ordered by the week. The query provides insights into user activation trends and the cumulative growth of active users.</a:t>
            </a:r>
            <a:endParaRPr lang="en-US" sz="1600" dirty="0"/>
          </a:p>
        </p:txBody>
      </p:sp>
      <p:pic>
        <p:nvPicPr>
          <p:cNvPr id="8" name="Picture 7"/>
          <p:cNvPicPr>
            <a:picLocks noChangeAspect="1"/>
          </p:cNvPicPr>
          <p:nvPr/>
        </p:nvPicPr>
        <p:blipFill>
          <a:blip r:embed="rId2"/>
          <a:stretch>
            <a:fillRect/>
          </a:stretch>
        </p:blipFill>
        <p:spPr>
          <a:xfrm>
            <a:off x="219194" y="4757864"/>
            <a:ext cx="1298561" cy="493819"/>
          </a:xfrm>
          <a:prstGeom prst="rect">
            <a:avLst/>
          </a:prstGeom>
        </p:spPr>
      </p:pic>
      <p:sp>
        <p:nvSpPr>
          <p:cNvPr id="11" name="TextBox 10"/>
          <p:cNvSpPr txBox="1"/>
          <p:nvPr/>
        </p:nvSpPr>
        <p:spPr>
          <a:xfrm>
            <a:off x="219194" y="219293"/>
            <a:ext cx="3612715" cy="923330"/>
          </a:xfrm>
          <a:prstGeom prst="rect">
            <a:avLst/>
          </a:prstGeom>
          <a:noFill/>
        </p:spPr>
        <p:txBody>
          <a:bodyPr wrap="square" rtlCol="0">
            <a:spAutoFit/>
          </a:bodyPr>
          <a:lstStyle/>
          <a:p>
            <a:pPr marL="457200" indent="-457200">
              <a:buFont typeface="+mj-lt"/>
              <a:buAutoNum type="alphaUcPeriod" startAt="2"/>
            </a:pPr>
            <a:r>
              <a:rPr lang="en-US" b="1" dirty="0" smtClean="0"/>
              <a:t>USER GROWTH ANALYSIS</a:t>
            </a:r>
            <a:r>
              <a:rPr lang="en-US" b="1" dirty="0" smtClean="0"/>
              <a:t>: </a:t>
            </a:r>
            <a:endParaRPr lang="en-US" b="1" dirty="0" smtClean="0"/>
          </a:p>
          <a:p>
            <a:endParaRPr lang="en-US" dirty="0"/>
          </a:p>
          <a:p>
            <a:endParaRPr lang="en-US" dirty="0"/>
          </a:p>
        </p:txBody>
      </p:sp>
      <p:pic>
        <p:nvPicPr>
          <p:cNvPr id="12" name="Picture 11"/>
          <p:cNvPicPr>
            <a:picLocks noChangeAspect="1"/>
          </p:cNvPicPr>
          <p:nvPr/>
        </p:nvPicPr>
        <p:blipFill>
          <a:blip r:embed="rId3"/>
          <a:stretch>
            <a:fillRect/>
          </a:stretch>
        </p:blipFill>
        <p:spPr>
          <a:xfrm>
            <a:off x="689059" y="680958"/>
            <a:ext cx="7887801" cy="2200582"/>
          </a:xfrm>
          <a:prstGeom prst="rect">
            <a:avLst/>
          </a:prstGeom>
        </p:spPr>
      </p:pic>
      <p:pic>
        <p:nvPicPr>
          <p:cNvPr id="13" name="Picture 12"/>
          <p:cNvPicPr>
            <a:picLocks noChangeAspect="1"/>
          </p:cNvPicPr>
          <p:nvPr/>
        </p:nvPicPr>
        <p:blipFill>
          <a:blip r:embed="rId4"/>
          <a:stretch>
            <a:fillRect/>
          </a:stretch>
        </p:blipFill>
        <p:spPr>
          <a:xfrm>
            <a:off x="1517755" y="4359957"/>
            <a:ext cx="3612634" cy="1783452"/>
          </a:xfrm>
          <a:prstGeom prst="rect">
            <a:avLst/>
          </a:prstGeom>
        </p:spPr>
      </p:pic>
    </p:spTree>
    <p:extLst>
      <p:ext uri="{BB962C8B-B14F-4D97-AF65-F5344CB8AC3E}">
        <p14:creationId xmlns:p14="http://schemas.microsoft.com/office/powerpoint/2010/main" val="213457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233" y="5371494"/>
            <a:ext cx="11367527" cy="1077218"/>
          </a:xfrm>
          <a:prstGeom prst="rect">
            <a:avLst/>
          </a:prstGeom>
          <a:noFill/>
        </p:spPr>
        <p:txBody>
          <a:bodyPr wrap="square" rtlCol="0">
            <a:spAutoFit/>
          </a:bodyPr>
          <a:lstStyle/>
          <a:p>
            <a:r>
              <a:rPr lang="en-US" sz="1600" dirty="0" smtClean="0"/>
              <a:t>This SQL query calculates user retention by first identifying users who completed the signup flow in week 18 (</a:t>
            </a:r>
            <a:r>
              <a:rPr lang="en-US" sz="1600" dirty="0" err="1" smtClean="0"/>
              <a:t>ctel</a:t>
            </a:r>
            <a:r>
              <a:rPr lang="en-US" sz="1600" dirty="0" smtClean="0"/>
              <a:t>) and users who engaged with events (cte2). It then joins these two sets of users based on their </a:t>
            </a:r>
            <a:r>
              <a:rPr lang="en-US" sz="1600" dirty="0" err="1" smtClean="0"/>
              <a:t>user_id</a:t>
            </a:r>
            <a:r>
              <a:rPr lang="en-US" sz="1600" dirty="0" smtClean="0"/>
              <a:t>, computes the difference in weeks between signup and engagement, and counts the total engaged users and the number of users retained (those with a positive </a:t>
            </a:r>
            <a:r>
              <a:rPr lang="en-US" sz="1600" dirty="0" err="1" smtClean="0"/>
              <a:t>retention_week</a:t>
            </a:r>
            <a:r>
              <a:rPr lang="en-US" sz="1600" dirty="0" smtClean="0"/>
              <a:t>). This provides insights into user retention after completing the signup process during week 18.</a:t>
            </a:r>
            <a:endParaRPr lang="en-US" sz="1600" dirty="0"/>
          </a:p>
        </p:txBody>
      </p:sp>
      <p:sp>
        <p:nvSpPr>
          <p:cNvPr id="5" name="TextBox 4"/>
          <p:cNvSpPr txBox="1"/>
          <p:nvPr/>
        </p:nvSpPr>
        <p:spPr>
          <a:xfrm>
            <a:off x="3557941" y="4436294"/>
            <a:ext cx="1246349" cy="365760"/>
          </a:xfrm>
          <a:prstGeom prst="rect">
            <a:avLst/>
          </a:prstGeom>
          <a:noFill/>
        </p:spPr>
        <p:txBody>
          <a:bodyPr wrap="square" rtlCol="0">
            <a:spAutoFit/>
          </a:bodyPr>
          <a:lstStyle/>
          <a:p>
            <a:r>
              <a:rPr lang="en-US" b="1" dirty="0" smtClean="0"/>
              <a:t>OUTPUT:</a:t>
            </a:r>
            <a:endParaRPr lang="en-US" b="1" dirty="0"/>
          </a:p>
        </p:txBody>
      </p:sp>
      <p:sp>
        <p:nvSpPr>
          <p:cNvPr id="7" name="TextBox 6"/>
          <p:cNvSpPr txBox="1"/>
          <p:nvPr/>
        </p:nvSpPr>
        <p:spPr>
          <a:xfrm>
            <a:off x="209006" y="4323806"/>
            <a:ext cx="4519748" cy="369332"/>
          </a:xfrm>
          <a:prstGeom prst="rect">
            <a:avLst/>
          </a:prstGeom>
          <a:noFill/>
        </p:spPr>
        <p:txBody>
          <a:bodyPr wrap="square" rtlCol="0">
            <a:spAutoFit/>
          </a:bodyPr>
          <a:lstStyle/>
          <a:p>
            <a:pPr marL="400050" indent="-400050">
              <a:buFont typeface="+mj-lt"/>
              <a:buAutoNum type="romanUcPeriod" startAt="2"/>
            </a:pPr>
            <a:endParaRPr lang="en-US" dirty="0"/>
          </a:p>
        </p:txBody>
      </p:sp>
      <p:sp>
        <p:nvSpPr>
          <p:cNvPr id="10" name="TextBox 9"/>
          <p:cNvSpPr txBox="1"/>
          <p:nvPr/>
        </p:nvSpPr>
        <p:spPr>
          <a:xfrm>
            <a:off x="219194" y="219293"/>
            <a:ext cx="3612715" cy="923330"/>
          </a:xfrm>
          <a:prstGeom prst="rect">
            <a:avLst/>
          </a:prstGeom>
          <a:noFill/>
        </p:spPr>
        <p:txBody>
          <a:bodyPr wrap="square" rtlCol="0">
            <a:spAutoFit/>
          </a:bodyPr>
          <a:lstStyle/>
          <a:p>
            <a:pPr marL="457200" indent="-457200">
              <a:buFont typeface="+mj-lt"/>
              <a:buAutoNum type="alphaUcPeriod" startAt="3"/>
            </a:pPr>
            <a:r>
              <a:rPr lang="en-US" b="1" dirty="0" smtClean="0"/>
              <a:t>WEEKLY RETENTION ANALYSIS</a:t>
            </a:r>
            <a:r>
              <a:rPr lang="en-US" b="1" dirty="0" smtClean="0"/>
              <a:t>: </a:t>
            </a:r>
            <a:endParaRPr lang="en-US" b="1" dirty="0" smtClean="0"/>
          </a:p>
          <a:p>
            <a:endParaRPr lang="en-US" dirty="0"/>
          </a:p>
          <a:p>
            <a:endParaRPr lang="en-US" dirty="0"/>
          </a:p>
        </p:txBody>
      </p:sp>
      <p:pic>
        <p:nvPicPr>
          <p:cNvPr id="8" name="Picture 7"/>
          <p:cNvPicPr>
            <a:picLocks noChangeAspect="1"/>
          </p:cNvPicPr>
          <p:nvPr/>
        </p:nvPicPr>
        <p:blipFill>
          <a:blip r:embed="rId2"/>
          <a:stretch>
            <a:fillRect/>
          </a:stretch>
        </p:blipFill>
        <p:spPr>
          <a:xfrm>
            <a:off x="947911" y="743181"/>
            <a:ext cx="5306165" cy="3362794"/>
          </a:xfrm>
          <a:prstGeom prst="rect">
            <a:avLst/>
          </a:prstGeom>
        </p:spPr>
      </p:pic>
      <p:pic>
        <p:nvPicPr>
          <p:cNvPr id="9" name="Picture 8"/>
          <p:cNvPicPr>
            <a:picLocks noChangeAspect="1"/>
          </p:cNvPicPr>
          <p:nvPr/>
        </p:nvPicPr>
        <p:blipFill>
          <a:blip r:embed="rId3"/>
          <a:stretch>
            <a:fillRect/>
          </a:stretch>
        </p:blipFill>
        <p:spPr>
          <a:xfrm>
            <a:off x="1032538" y="4134346"/>
            <a:ext cx="7392432" cy="1019317"/>
          </a:xfrm>
          <a:prstGeom prst="rect">
            <a:avLst/>
          </a:prstGeom>
        </p:spPr>
      </p:pic>
      <p:pic>
        <p:nvPicPr>
          <p:cNvPr id="13" name="Picture 12"/>
          <p:cNvPicPr>
            <a:picLocks noChangeAspect="1"/>
          </p:cNvPicPr>
          <p:nvPr/>
        </p:nvPicPr>
        <p:blipFill>
          <a:blip r:embed="rId4"/>
          <a:stretch>
            <a:fillRect/>
          </a:stretch>
        </p:blipFill>
        <p:spPr>
          <a:xfrm>
            <a:off x="8367582" y="1687945"/>
            <a:ext cx="3428178" cy="736633"/>
          </a:xfrm>
          <a:prstGeom prst="rect">
            <a:avLst/>
          </a:prstGeom>
        </p:spPr>
      </p:pic>
      <p:pic>
        <p:nvPicPr>
          <p:cNvPr id="14" name="Picture 13"/>
          <p:cNvPicPr>
            <a:picLocks noChangeAspect="1"/>
          </p:cNvPicPr>
          <p:nvPr/>
        </p:nvPicPr>
        <p:blipFill>
          <a:blip r:embed="rId5"/>
          <a:stretch>
            <a:fillRect/>
          </a:stretch>
        </p:blipFill>
        <p:spPr>
          <a:xfrm>
            <a:off x="7236313" y="1687945"/>
            <a:ext cx="1298561" cy="493819"/>
          </a:xfrm>
          <a:prstGeom prst="rect">
            <a:avLst/>
          </a:prstGeom>
        </p:spPr>
      </p:pic>
    </p:spTree>
    <p:extLst>
      <p:ext uri="{BB962C8B-B14F-4D97-AF65-F5344CB8AC3E}">
        <p14:creationId xmlns:p14="http://schemas.microsoft.com/office/powerpoint/2010/main" val="1521494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177" y="2841689"/>
            <a:ext cx="11432875" cy="1077218"/>
          </a:xfrm>
          <a:prstGeom prst="rect">
            <a:avLst/>
          </a:prstGeom>
          <a:noFill/>
        </p:spPr>
        <p:txBody>
          <a:bodyPr wrap="square" rtlCol="0">
            <a:spAutoFit/>
          </a:bodyPr>
          <a:lstStyle/>
          <a:p>
            <a:r>
              <a:rPr lang="en-US" sz="1600" dirty="0" smtClean="0"/>
              <a:t>This SQL query first creates a common table expression (CTE) named "</a:t>
            </a:r>
            <a:r>
              <a:rPr lang="en-US" sz="1600" dirty="0" err="1" smtClean="0"/>
              <a:t>cte</a:t>
            </a:r>
            <a:r>
              <a:rPr lang="en-US" sz="1600" dirty="0" smtClean="0"/>
              <a:t>" to calculate the count of distinct users engaged with events per week and device type. It extracts the year and week from the "</a:t>
            </a:r>
            <a:r>
              <a:rPr lang="en-US" sz="1600" dirty="0" err="1" smtClean="0"/>
              <a:t>occurred_at</a:t>
            </a:r>
            <a:r>
              <a:rPr lang="en-US" sz="1600" dirty="0" smtClean="0"/>
              <a:t>" timestamp and groups the results by week and device. The final SELECT statement retrieves the week number, device type, and the count of distinct users from the CTE, providing insights into user engagement by week and device.</a:t>
            </a:r>
            <a:endParaRPr lang="en-US" sz="1600" dirty="0"/>
          </a:p>
        </p:txBody>
      </p:sp>
      <p:sp>
        <p:nvSpPr>
          <p:cNvPr id="3" name="TextBox 2"/>
          <p:cNvSpPr txBox="1"/>
          <p:nvPr/>
        </p:nvSpPr>
        <p:spPr>
          <a:xfrm>
            <a:off x="1028355" y="4636660"/>
            <a:ext cx="1246349" cy="365760"/>
          </a:xfrm>
          <a:prstGeom prst="rect">
            <a:avLst/>
          </a:prstGeom>
          <a:noFill/>
        </p:spPr>
        <p:txBody>
          <a:bodyPr wrap="square" rtlCol="0">
            <a:spAutoFit/>
          </a:bodyPr>
          <a:lstStyle/>
          <a:p>
            <a:r>
              <a:rPr lang="en-US" b="1" dirty="0" smtClean="0"/>
              <a:t>OUTPUT:</a:t>
            </a:r>
            <a:endParaRPr lang="en-US" b="1" dirty="0"/>
          </a:p>
        </p:txBody>
      </p:sp>
      <p:pic>
        <p:nvPicPr>
          <p:cNvPr id="7" name="Picture 6"/>
          <p:cNvPicPr>
            <a:picLocks noChangeAspect="1"/>
          </p:cNvPicPr>
          <p:nvPr/>
        </p:nvPicPr>
        <p:blipFill>
          <a:blip r:embed="rId2"/>
          <a:stretch>
            <a:fillRect/>
          </a:stretch>
        </p:blipFill>
        <p:spPr>
          <a:xfrm>
            <a:off x="645315" y="680958"/>
            <a:ext cx="8041485" cy="2160731"/>
          </a:xfrm>
          <a:prstGeom prst="rect">
            <a:avLst/>
          </a:prstGeom>
        </p:spPr>
      </p:pic>
      <p:sp>
        <p:nvSpPr>
          <p:cNvPr id="8" name="TextBox 7"/>
          <p:cNvSpPr txBox="1"/>
          <p:nvPr/>
        </p:nvSpPr>
        <p:spPr>
          <a:xfrm>
            <a:off x="219194" y="219293"/>
            <a:ext cx="4888383" cy="923330"/>
          </a:xfrm>
          <a:prstGeom prst="rect">
            <a:avLst/>
          </a:prstGeom>
          <a:noFill/>
        </p:spPr>
        <p:txBody>
          <a:bodyPr wrap="square" rtlCol="0">
            <a:spAutoFit/>
          </a:bodyPr>
          <a:lstStyle/>
          <a:p>
            <a:pPr marL="457200" indent="-457200">
              <a:buFont typeface="+mj-lt"/>
              <a:buAutoNum type="alphaUcPeriod" startAt="4"/>
            </a:pPr>
            <a:r>
              <a:rPr lang="en-US" b="1" dirty="0" smtClean="0"/>
              <a:t>WEEKLY ENGAGEMENT PER DEVICE</a:t>
            </a:r>
            <a:r>
              <a:rPr lang="en-US" b="1" dirty="0" smtClean="0"/>
              <a:t>: </a:t>
            </a:r>
            <a:endParaRPr lang="en-US" b="1" dirty="0" smtClean="0"/>
          </a:p>
          <a:p>
            <a:endParaRPr lang="en-US" dirty="0"/>
          </a:p>
          <a:p>
            <a:endParaRPr lang="en-US" dirty="0"/>
          </a:p>
        </p:txBody>
      </p:sp>
      <p:pic>
        <p:nvPicPr>
          <p:cNvPr id="9" name="Picture 8"/>
          <p:cNvPicPr>
            <a:picLocks noChangeAspect="1"/>
          </p:cNvPicPr>
          <p:nvPr/>
        </p:nvPicPr>
        <p:blipFill>
          <a:blip r:embed="rId3"/>
          <a:stretch>
            <a:fillRect/>
          </a:stretch>
        </p:blipFill>
        <p:spPr>
          <a:xfrm>
            <a:off x="2641314" y="4112138"/>
            <a:ext cx="3537417" cy="2095239"/>
          </a:xfrm>
          <a:prstGeom prst="rect">
            <a:avLst/>
          </a:prstGeom>
        </p:spPr>
      </p:pic>
    </p:spTree>
    <p:extLst>
      <p:ext uri="{BB962C8B-B14F-4D97-AF65-F5344CB8AC3E}">
        <p14:creationId xmlns:p14="http://schemas.microsoft.com/office/powerpoint/2010/main" val="809011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5799" y="148860"/>
            <a:ext cx="4888383" cy="923330"/>
          </a:xfrm>
          <a:prstGeom prst="rect">
            <a:avLst/>
          </a:prstGeom>
          <a:noFill/>
        </p:spPr>
        <p:txBody>
          <a:bodyPr wrap="square" rtlCol="0">
            <a:spAutoFit/>
          </a:bodyPr>
          <a:lstStyle/>
          <a:p>
            <a:pPr marL="457200" indent="-457200">
              <a:buFont typeface="+mj-lt"/>
              <a:buAutoNum type="alphaUcPeriod" startAt="5"/>
            </a:pPr>
            <a:r>
              <a:rPr lang="en-US" b="1" dirty="0" smtClean="0"/>
              <a:t>EMAIL ENGAGEMENT ANALYSIS</a:t>
            </a:r>
            <a:r>
              <a:rPr lang="en-US" b="1" dirty="0" smtClean="0"/>
              <a:t>: </a:t>
            </a:r>
            <a:endParaRPr lang="en-US" b="1" dirty="0" smtClean="0"/>
          </a:p>
          <a:p>
            <a:endParaRPr lang="en-US" dirty="0"/>
          </a:p>
          <a:p>
            <a:endParaRPr lang="en-US" dirty="0"/>
          </a:p>
        </p:txBody>
      </p:sp>
      <p:pic>
        <p:nvPicPr>
          <p:cNvPr id="3" name="Picture 2"/>
          <p:cNvPicPr>
            <a:picLocks noChangeAspect="1"/>
          </p:cNvPicPr>
          <p:nvPr/>
        </p:nvPicPr>
        <p:blipFill>
          <a:blip r:embed="rId2"/>
          <a:stretch>
            <a:fillRect/>
          </a:stretch>
        </p:blipFill>
        <p:spPr>
          <a:xfrm>
            <a:off x="958169" y="610525"/>
            <a:ext cx="6809543" cy="3399772"/>
          </a:xfrm>
          <a:prstGeom prst="rect">
            <a:avLst/>
          </a:prstGeom>
        </p:spPr>
      </p:pic>
      <p:sp>
        <p:nvSpPr>
          <p:cNvPr id="4" name="Rectangle 3"/>
          <p:cNvSpPr/>
          <p:nvPr/>
        </p:nvSpPr>
        <p:spPr>
          <a:xfrm>
            <a:off x="461554" y="4377180"/>
            <a:ext cx="11386457" cy="1077218"/>
          </a:xfrm>
          <a:prstGeom prst="rect">
            <a:avLst/>
          </a:prstGeom>
        </p:spPr>
        <p:txBody>
          <a:bodyPr wrap="square">
            <a:spAutoFit/>
          </a:bodyPr>
          <a:lstStyle/>
          <a:p>
            <a:r>
              <a:rPr lang="en-US" sz="1600" dirty="0" smtClean="0"/>
              <a:t>This SQL query calculates email open rates and click-through rates by first categorizing email events into '</a:t>
            </a:r>
            <a:r>
              <a:rPr lang="en-US" sz="1600" dirty="0" err="1" smtClean="0"/>
              <a:t>email_sent</a:t>
            </a:r>
            <a:r>
              <a:rPr lang="en-US" sz="1600" dirty="0" smtClean="0"/>
              <a:t>,' '</a:t>
            </a:r>
            <a:r>
              <a:rPr lang="en-US" sz="1600" dirty="0" err="1" smtClean="0"/>
              <a:t>email_open</a:t>
            </a:r>
            <a:r>
              <a:rPr lang="en-US" sz="1600" dirty="0" smtClean="0"/>
              <a:t>,' and '</a:t>
            </a:r>
            <a:r>
              <a:rPr lang="en-US" sz="1600" dirty="0" err="1" smtClean="0"/>
              <a:t>email_click</a:t>
            </a:r>
            <a:r>
              <a:rPr lang="en-US" sz="1600" dirty="0" smtClean="0"/>
              <a:t>.' It then uses conditional SUMs to calculate the percentages of email opens and clicks relative to the total number of emails sent (</a:t>
            </a:r>
            <a:r>
              <a:rPr lang="en-US" sz="1600" dirty="0" err="1" smtClean="0"/>
              <a:t>email_sent</a:t>
            </a:r>
            <a:r>
              <a:rPr lang="en-US" sz="1600" dirty="0" smtClean="0"/>
              <a:t>). The NULLIF function is used to handle cases where no emails were sent, preventing division by zero errors. This query provides insights into the effectiveness of email campaigns by measuring user engagement with emails.</a:t>
            </a:r>
            <a:endParaRPr lang="en-US" sz="1600" dirty="0"/>
          </a:p>
        </p:txBody>
      </p:sp>
      <p:sp>
        <p:nvSpPr>
          <p:cNvPr id="5" name="TextBox 4"/>
          <p:cNvSpPr txBox="1"/>
          <p:nvPr/>
        </p:nvSpPr>
        <p:spPr>
          <a:xfrm>
            <a:off x="675658" y="5821281"/>
            <a:ext cx="1246349" cy="365760"/>
          </a:xfrm>
          <a:prstGeom prst="rect">
            <a:avLst/>
          </a:prstGeom>
          <a:noFill/>
        </p:spPr>
        <p:txBody>
          <a:bodyPr wrap="square" rtlCol="0">
            <a:spAutoFit/>
          </a:bodyPr>
          <a:lstStyle/>
          <a:p>
            <a:r>
              <a:rPr lang="en-US" b="1" dirty="0" smtClean="0"/>
              <a:t>OUTPUT:</a:t>
            </a:r>
            <a:endParaRPr lang="en-US" b="1" dirty="0"/>
          </a:p>
        </p:txBody>
      </p:sp>
      <p:pic>
        <p:nvPicPr>
          <p:cNvPr id="6" name="Picture 5"/>
          <p:cNvPicPr>
            <a:picLocks noChangeAspect="1"/>
          </p:cNvPicPr>
          <p:nvPr/>
        </p:nvPicPr>
        <p:blipFill>
          <a:blip r:embed="rId3"/>
          <a:stretch>
            <a:fillRect/>
          </a:stretch>
        </p:blipFill>
        <p:spPr>
          <a:xfrm>
            <a:off x="1922007" y="5605139"/>
            <a:ext cx="2940124" cy="834850"/>
          </a:xfrm>
          <a:prstGeom prst="rect">
            <a:avLst/>
          </a:prstGeom>
        </p:spPr>
      </p:pic>
    </p:spTree>
    <p:extLst>
      <p:ext uri="{BB962C8B-B14F-4D97-AF65-F5344CB8AC3E}">
        <p14:creationId xmlns:p14="http://schemas.microsoft.com/office/powerpoint/2010/main" val="1525627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422" y="238146"/>
            <a:ext cx="11586755" cy="1107996"/>
          </a:xfrm>
          <a:prstGeom prst="rect">
            <a:avLst/>
          </a:prstGeom>
          <a:noFill/>
        </p:spPr>
        <p:txBody>
          <a:bodyPr wrap="square" rtlCol="0">
            <a:spAutoFit/>
          </a:bodyPr>
          <a:lstStyle/>
          <a:p>
            <a:pPr marL="342900" indent="-342900">
              <a:buFont typeface="+mj-lt"/>
              <a:buAutoNum type="arabicPeriod" startAt="3"/>
            </a:pPr>
            <a:r>
              <a:rPr lang="en-US" b="1" dirty="0"/>
              <a:t>Tech-Stack </a:t>
            </a:r>
            <a:r>
              <a:rPr lang="en-US" b="1" dirty="0" smtClean="0"/>
              <a:t>Used:</a:t>
            </a:r>
          </a:p>
          <a:p>
            <a:pPr marL="285750" indent="-285750">
              <a:buFont typeface="Arial" panose="020B0604020202020204" pitchFamily="34" charset="0"/>
              <a:buChar char="•"/>
            </a:pPr>
            <a:r>
              <a:rPr lang="en-US" sz="1600" dirty="0" smtClean="0"/>
              <a:t>For this project I have used MySQL Workbench (Version : 8.0.33) as it is </a:t>
            </a:r>
            <a:r>
              <a:rPr lang="en-US" sz="1600" dirty="0"/>
              <a:t>a user-friendly integrated development environment (IDE) for MySQL databases</a:t>
            </a:r>
            <a:r>
              <a:rPr lang="en-US" sz="1600" dirty="0" smtClean="0"/>
              <a:t>. It provides </a:t>
            </a:r>
            <a:r>
              <a:rPr lang="en-US" sz="1600" dirty="0"/>
              <a:t>performance analysis tools, and facilitates database administration tasks like user management and backups.</a:t>
            </a:r>
          </a:p>
        </p:txBody>
      </p:sp>
      <p:sp>
        <p:nvSpPr>
          <p:cNvPr id="5" name="TextBox 4"/>
          <p:cNvSpPr txBox="1"/>
          <p:nvPr/>
        </p:nvSpPr>
        <p:spPr>
          <a:xfrm>
            <a:off x="226422" y="1346142"/>
            <a:ext cx="12018538" cy="1661993"/>
          </a:xfrm>
          <a:prstGeom prst="rect">
            <a:avLst/>
          </a:prstGeom>
          <a:noFill/>
        </p:spPr>
        <p:txBody>
          <a:bodyPr wrap="square" rtlCol="0">
            <a:spAutoFit/>
          </a:bodyPr>
          <a:lstStyle/>
          <a:p>
            <a:pPr marL="342900" indent="-342900">
              <a:spcAft>
                <a:spcPts val="600"/>
              </a:spcAft>
              <a:buFont typeface="+mj-lt"/>
              <a:buAutoNum type="arabicPeriod" startAt="4"/>
            </a:pPr>
            <a:r>
              <a:rPr lang="en-US" b="1" dirty="0" smtClean="0"/>
              <a:t>Insights:</a:t>
            </a:r>
          </a:p>
          <a:p>
            <a:pPr>
              <a:spcAft>
                <a:spcPts val="600"/>
              </a:spcAft>
            </a:pPr>
            <a:r>
              <a:rPr lang="en-US" sz="1600" dirty="0" smtClean="0"/>
              <a:t>The insights and knowledge I have gained while working on this project are as follows:</a:t>
            </a:r>
          </a:p>
          <a:p>
            <a:pPr marL="285750" indent="-285750">
              <a:spcAft>
                <a:spcPts val="600"/>
              </a:spcAft>
              <a:buFont typeface="Arial" panose="020B0604020202020204" pitchFamily="34" charset="0"/>
              <a:buChar char="•"/>
            </a:pPr>
            <a:r>
              <a:rPr lang="en-US" sz="1600" dirty="0"/>
              <a:t>SQL's aggregate functions and data manipulation capabilities facilitate complex calculations, grouping, and transformations</a:t>
            </a:r>
            <a:r>
              <a:rPr lang="en-US" sz="1600" dirty="0" smtClean="0"/>
              <a:t>.</a:t>
            </a:r>
            <a:endParaRPr lang="en-US" sz="1600" dirty="0" smtClean="0"/>
          </a:p>
          <a:p>
            <a:pPr marL="285750" indent="-285750">
              <a:spcAft>
                <a:spcPts val="600"/>
              </a:spcAft>
              <a:buFont typeface="Arial" panose="020B0604020202020204" pitchFamily="34" charset="0"/>
              <a:buChar char="•"/>
            </a:pPr>
            <a:r>
              <a:rPr lang="en-US" sz="1600" dirty="0"/>
              <a:t>SQL's JOIN operations enable the integration of data from multiple tables, allowing </a:t>
            </a:r>
            <a:r>
              <a:rPr lang="en-US" sz="1600" dirty="0" smtClean="0"/>
              <a:t>us </a:t>
            </a:r>
            <a:r>
              <a:rPr lang="en-US" sz="1600" dirty="0"/>
              <a:t>to perform comprehensive </a:t>
            </a:r>
            <a:r>
              <a:rPr lang="en-US" sz="1600" dirty="0" smtClean="0"/>
              <a:t>analysis.</a:t>
            </a:r>
          </a:p>
          <a:p>
            <a:pPr marL="285750" indent="-285750">
              <a:spcAft>
                <a:spcPts val="600"/>
              </a:spcAft>
              <a:buFont typeface="Arial" panose="020B0604020202020204" pitchFamily="34" charset="0"/>
              <a:buChar char="•"/>
            </a:pPr>
            <a:r>
              <a:rPr lang="en-US" sz="1600" dirty="0"/>
              <a:t>SQL's subquery capabilities </a:t>
            </a:r>
            <a:r>
              <a:rPr lang="en-US" sz="1600" dirty="0" smtClean="0"/>
              <a:t>enable us </a:t>
            </a:r>
            <a:r>
              <a:rPr lang="en-US" sz="1600" dirty="0"/>
              <a:t>to build intricate queries for in-depth </a:t>
            </a:r>
            <a:r>
              <a:rPr lang="en-US" sz="1600" dirty="0" smtClean="0"/>
              <a:t>analysis </a:t>
            </a:r>
            <a:r>
              <a:rPr lang="en-US" sz="1600" dirty="0"/>
              <a:t>and decision-making.</a:t>
            </a:r>
          </a:p>
        </p:txBody>
      </p:sp>
      <p:sp>
        <p:nvSpPr>
          <p:cNvPr id="6" name="Rectangle 5"/>
          <p:cNvSpPr/>
          <p:nvPr/>
        </p:nvSpPr>
        <p:spPr>
          <a:xfrm>
            <a:off x="226422" y="3008135"/>
            <a:ext cx="11965578" cy="2231380"/>
          </a:xfrm>
          <a:prstGeom prst="rect">
            <a:avLst/>
          </a:prstGeom>
        </p:spPr>
        <p:txBody>
          <a:bodyPr wrap="square">
            <a:spAutoFit/>
          </a:bodyPr>
          <a:lstStyle/>
          <a:p>
            <a:pPr marL="342900" indent="-342900">
              <a:spcAft>
                <a:spcPts val="600"/>
              </a:spcAft>
              <a:buFont typeface="+mj-lt"/>
              <a:buAutoNum type="arabicPeriod" startAt="5"/>
            </a:pPr>
            <a:r>
              <a:rPr lang="en-US" b="1" dirty="0" smtClean="0"/>
              <a:t>Result:</a:t>
            </a:r>
          </a:p>
          <a:p>
            <a:pPr marL="400050" indent="-400050">
              <a:spcAft>
                <a:spcPts val="600"/>
              </a:spcAft>
              <a:buFont typeface="+mj-lt"/>
              <a:buAutoNum type="romanUcPeriod"/>
            </a:pPr>
            <a:r>
              <a:rPr lang="en-US" sz="1600" b="1" dirty="0"/>
              <a:t>Job Data Analysis:</a:t>
            </a:r>
          </a:p>
          <a:p>
            <a:pPr marL="285750" indent="-285750">
              <a:spcAft>
                <a:spcPts val="600"/>
              </a:spcAft>
              <a:buFont typeface="Arial" panose="020B0604020202020204" pitchFamily="34" charset="0"/>
              <a:buChar char="•"/>
            </a:pPr>
            <a:r>
              <a:rPr lang="en-US" sz="1600" dirty="0"/>
              <a:t> Job Reviews Over Time: Reveals patterns in job reviews during November 2020, providing insights into peak review times.</a:t>
            </a:r>
          </a:p>
          <a:p>
            <a:pPr marL="285750" indent="-285750">
              <a:spcAft>
                <a:spcPts val="600"/>
              </a:spcAft>
              <a:buFont typeface="Arial" panose="020B0604020202020204" pitchFamily="34" charset="0"/>
              <a:buChar char="•"/>
            </a:pPr>
            <a:r>
              <a:rPr lang="en-US" sz="1600" dirty="0"/>
              <a:t>Throughput Analysis: Evaluates system performance by calculating a 7-day rolling average of throughput, offering insights into long-term trends.</a:t>
            </a:r>
          </a:p>
          <a:p>
            <a:pPr marL="285750" indent="-285750">
              <a:spcAft>
                <a:spcPts val="600"/>
              </a:spcAft>
              <a:buFont typeface="Arial" panose="020B0604020202020204" pitchFamily="34" charset="0"/>
              <a:buChar char="•"/>
            </a:pPr>
            <a:r>
              <a:rPr lang="en-US" sz="1600" dirty="0"/>
              <a:t> Language Share Analysis: Analyzes language diversity in recent data, helping to understand language distribution.</a:t>
            </a:r>
          </a:p>
          <a:p>
            <a:pPr marL="285750" indent="-285750">
              <a:spcAft>
                <a:spcPts val="600"/>
              </a:spcAft>
              <a:buFont typeface="Arial" panose="020B0604020202020204" pitchFamily="34" charset="0"/>
              <a:buChar char="•"/>
            </a:pPr>
            <a:r>
              <a:rPr lang="en-US" sz="1600" dirty="0"/>
              <a:t> Duplicate Rows Detection: Identifies and manages duplicate data entries, ensuring data quality.</a:t>
            </a:r>
          </a:p>
        </p:txBody>
      </p:sp>
      <p:sp>
        <p:nvSpPr>
          <p:cNvPr id="7" name="TextBox 6"/>
          <p:cNvSpPr txBox="1"/>
          <p:nvPr/>
        </p:nvSpPr>
        <p:spPr>
          <a:xfrm>
            <a:off x="226422" y="5266950"/>
            <a:ext cx="11717079" cy="1308050"/>
          </a:xfrm>
          <a:prstGeom prst="rect">
            <a:avLst/>
          </a:prstGeom>
          <a:noFill/>
        </p:spPr>
        <p:txBody>
          <a:bodyPr wrap="square" rtlCol="0">
            <a:spAutoFit/>
          </a:bodyPr>
          <a:lstStyle/>
          <a:p>
            <a:pPr marL="400050" indent="-400050">
              <a:spcAft>
                <a:spcPts val="600"/>
              </a:spcAft>
              <a:buFont typeface="+mj-lt"/>
              <a:buAutoNum type="romanUcPeriod" startAt="2"/>
            </a:pPr>
            <a:r>
              <a:rPr lang="en-US" sz="1600" b="1" dirty="0" smtClean="0"/>
              <a:t>Investigating Metric Spike:</a:t>
            </a:r>
          </a:p>
          <a:p>
            <a:pPr marL="285750" indent="-285750">
              <a:spcAft>
                <a:spcPts val="600"/>
              </a:spcAft>
              <a:buFont typeface="Arial" panose="020B0604020202020204" pitchFamily="34" charset="0"/>
              <a:buChar char="•"/>
            </a:pPr>
            <a:r>
              <a:rPr lang="en-US" sz="1600" dirty="0" smtClean="0"/>
              <a:t>Weekly User Engagement: Measures user activity on a weekly basis, allowing for the tracking of user engagement trends.</a:t>
            </a:r>
          </a:p>
          <a:p>
            <a:pPr marL="285750" indent="-285750">
              <a:spcAft>
                <a:spcPts val="600"/>
              </a:spcAft>
              <a:buFont typeface="Arial" panose="020B0604020202020204" pitchFamily="34" charset="0"/>
              <a:buChar char="•"/>
            </a:pPr>
            <a:r>
              <a:rPr lang="en-US" sz="1600" dirty="0" smtClean="0"/>
              <a:t>User Growth Analysis: Analyzes user growth over time, aiding in assessing the product's success and potential expansion.</a:t>
            </a:r>
          </a:p>
          <a:p>
            <a:pPr marL="285750" indent="-285750">
              <a:spcAft>
                <a:spcPts val="600"/>
              </a:spcAft>
              <a:buFont typeface="Arial" panose="020B0604020202020204" pitchFamily="34" charset="0"/>
              <a:buChar char="•"/>
            </a:pPr>
            <a:r>
              <a:rPr lang="en-US" sz="1600" dirty="0" smtClean="0"/>
              <a:t> Weekly Retention Analysis: Evaluates user retention on a weekly basis, providing insights into user loyalty and product stickiness.</a:t>
            </a:r>
          </a:p>
        </p:txBody>
      </p:sp>
    </p:spTree>
    <p:extLst>
      <p:ext uri="{BB962C8B-B14F-4D97-AF65-F5344CB8AC3E}">
        <p14:creationId xmlns:p14="http://schemas.microsoft.com/office/powerpoint/2010/main" val="3450370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839" y="483325"/>
            <a:ext cx="11717079" cy="186204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600" dirty="0" smtClean="0"/>
              <a:t>Weekly Engagement Per Device: Measures user activeness weekly by device type, helping to identify device-specific trends.</a:t>
            </a:r>
          </a:p>
          <a:p>
            <a:pPr marL="285750" indent="-285750">
              <a:spcAft>
                <a:spcPts val="600"/>
              </a:spcAft>
              <a:buFont typeface="Arial" panose="020B0604020202020204" pitchFamily="34" charset="0"/>
              <a:buChar char="•"/>
            </a:pPr>
            <a:r>
              <a:rPr lang="en-US" sz="1600" dirty="0" smtClean="0"/>
              <a:t> Email Engagement Analysis: Analyzes user engagement with the email service, providing insights into email campaign effectiveness.</a:t>
            </a:r>
            <a:endParaRPr lang="en-US" sz="1600" dirty="0"/>
          </a:p>
          <a:p>
            <a:pPr>
              <a:spcAft>
                <a:spcPts val="600"/>
              </a:spcAft>
            </a:pPr>
            <a:r>
              <a:rPr lang="en-US" sz="1600" dirty="0"/>
              <a:t>Overall, these </a:t>
            </a:r>
            <a:r>
              <a:rPr lang="en-US" sz="1600" dirty="0" smtClean="0"/>
              <a:t>analysis </a:t>
            </a:r>
            <a:r>
              <a:rPr lang="en-US" sz="1600" dirty="0"/>
              <a:t>contribute to informed decision-making, product improvement, and a deeper understanding of user behavior and system performance</a:t>
            </a:r>
            <a:r>
              <a:rPr lang="en-US" sz="1600" dirty="0" smtClean="0"/>
              <a:t>. </a:t>
            </a:r>
            <a:r>
              <a:rPr lang="en-US" sz="1600" dirty="0" smtClean="0"/>
              <a:t>To conclude, this project benefited me in understanding when and how to use Advanced SQL queries in the analysis of the data and also gave practical exposure on working with SQL queries.</a:t>
            </a:r>
          </a:p>
          <a:p>
            <a:pPr>
              <a:spcAft>
                <a:spcPts val="600"/>
              </a:spcAft>
            </a:pPr>
            <a:endParaRPr lang="en-US" sz="1600" dirty="0" smtClean="0"/>
          </a:p>
        </p:txBody>
      </p:sp>
    </p:spTree>
    <p:extLst>
      <p:ext uri="{BB962C8B-B14F-4D97-AF65-F5344CB8AC3E}">
        <p14:creationId xmlns:p14="http://schemas.microsoft.com/office/powerpoint/2010/main" val="20337649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1475</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dc:creator>
  <cp:lastModifiedBy>shiva</cp:lastModifiedBy>
  <cp:revision>17</cp:revision>
  <dcterms:created xsi:type="dcterms:W3CDTF">2023-10-10T07:48:57Z</dcterms:created>
  <dcterms:modified xsi:type="dcterms:W3CDTF">2023-10-10T09:53:08Z</dcterms:modified>
</cp:coreProperties>
</file>